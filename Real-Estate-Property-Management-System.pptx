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Bitter" panose="020B0604020202020204" charset="0"/>
      <p:regular r:id="rId17"/>
    </p:embeddedFont>
    <p:embeddedFont>
      <p:font typeface="Bitter Bold" panose="020B0604020202020204" charset="0"/>
      <p:regular r:id="rId18"/>
    </p:embeddedFont>
    <p:embeddedFont>
      <p:font typeface="Consolas" panose="020B0609020204030204" pitchFamily="49" charset="0"/>
      <p:regular r:id="rId19"/>
      <p:bold r:id="rId20"/>
      <p:italic r:id="rId21"/>
      <p:boldItalic r:id="rId22"/>
    </p:embeddedFont>
    <p:embeddedFont>
      <p:font typeface="Outfit Bold" panose="020B0604020202020204" charset="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50478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012"/>
          </a:solidFill>
          <a:ln/>
        </p:spPr>
      </p:sp>
      <p:sp>
        <p:nvSpPr>
          <p:cNvPr id="3" name="Shape 1"/>
          <p:cNvSpPr/>
          <p:nvPr/>
        </p:nvSpPr>
        <p:spPr>
          <a:xfrm>
            <a:off x="0" y="0"/>
            <a:ext cx="12191695" cy="68580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jpe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537666"/>
            <a:ext cx="6296860" cy="930275"/>
          </a:xfrm>
          <a:prstGeom prst="rect">
            <a:avLst/>
          </a:prstGeom>
          <a:noFill/>
          <a:ln/>
        </p:spPr>
        <p:txBody>
          <a:bodyPr wrap="square" lIns="0" tIns="0" rIns="0" bIns="0" rtlCol="0" anchor="t">
            <a:normAutofit/>
          </a:bodyPr>
          <a:lstStyle/>
          <a:p>
            <a:pPr marL="0" indent="0" algn="l">
              <a:lnSpc>
                <a:spcPct val="104000"/>
              </a:lnSpc>
              <a:buNone/>
            </a:pPr>
            <a:r>
              <a:rPr lang="en-US" sz="2900" b="1" dirty="0">
                <a:solidFill>
                  <a:srgbClr val="E1E5CD"/>
                </a:solidFill>
                <a:latin typeface="Outfit Bold" pitchFamily="34" charset="0"/>
                <a:ea typeface="Outfit Bold" pitchFamily="34" charset="-122"/>
                <a:cs typeface="Outfit Bold" pitchFamily="34" charset="-120"/>
              </a:rPr>
              <a:t>Real Estate Property Management System</a:t>
            </a:r>
            <a:endParaRPr lang="en-US" sz="2900" dirty="0"/>
          </a:p>
        </p:txBody>
      </p:sp>
      <p:sp>
        <p:nvSpPr>
          <p:cNvPr id="4" name="Text 1"/>
          <p:cNvSpPr/>
          <p:nvPr/>
        </p:nvSpPr>
        <p:spPr>
          <a:xfrm>
            <a:off x="661475" y="1643757"/>
            <a:ext cx="6906444" cy="212824"/>
          </a:xfrm>
          <a:prstGeom prst="rect">
            <a:avLst/>
          </a:prstGeom>
          <a:noFill/>
          <a:ln/>
        </p:spPr>
        <p:txBody>
          <a:bodyPr wrap="none" lIns="0" tIns="0" rIns="0" bIns="0" rtlCol="0" anchor="t"/>
          <a:lstStyle/>
          <a:p>
            <a:pPr marL="0" indent="0" algn="l">
              <a:lnSpc>
                <a:spcPct val="119000"/>
              </a:lnSpc>
              <a:buNone/>
            </a:pPr>
            <a:r>
              <a:rPr lang="en-US" sz="1150" b="1" dirty="0">
                <a:solidFill>
                  <a:srgbClr val="C2C4B5"/>
                </a:solidFill>
                <a:latin typeface="Bitter Bold" pitchFamily="34" charset="0"/>
                <a:ea typeface="Bitter Bold" pitchFamily="34" charset="-122"/>
                <a:cs typeface="Bitter Bold" pitchFamily="34" charset="-120"/>
              </a:rPr>
              <a:t>Backend Development Project</a:t>
            </a:r>
            <a:endParaRPr lang="en-US" sz="11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1988443"/>
            <a:ext cx="6296860" cy="1365845"/>
          </a:xfrm>
          <a:prstGeom prst="rect">
            <a:avLst/>
          </a:prstGeom>
        </p:spPr>
      </p:pic>
      <p:sp>
        <p:nvSpPr>
          <p:cNvPr id="6" name="Text 2"/>
          <p:cNvSpPr/>
          <p:nvPr/>
        </p:nvSpPr>
        <p:spPr>
          <a:xfrm>
            <a:off x="829349" y="2571155"/>
            <a:ext cx="5961112" cy="279003"/>
          </a:xfrm>
          <a:prstGeom prst="rect">
            <a:avLst/>
          </a:prstGeom>
          <a:noFill/>
          <a:ln/>
        </p:spPr>
        <p:txBody>
          <a:bodyPr wrap="none" lIns="0" tIns="0" rIns="0" bIns="0" rtlCol="0" anchor="t"/>
          <a:lstStyle/>
          <a:p>
            <a:pPr marL="0" indent="0" algn="l">
              <a:lnSpc>
                <a:spcPct val="104000"/>
              </a:lnSpc>
              <a:buNone/>
            </a:pPr>
            <a:r>
              <a:rPr lang="en-US" sz="1750" b="1" dirty="0">
                <a:solidFill>
                  <a:srgbClr val="C2C4B5"/>
                </a:solidFill>
                <a:latin typeface="Outfit Bold" pitchFamily="34" charset="0"/>
                <a:ea typeface="Outfit Bold" pitchFamily="34" charset="-122"/>
                <a:cs typeface="Outfit Bold" pitchFamily="34" charset="-120"/>
              </a:rPr>
              <a:t>V Vishwa Teja</a:t>
            </a:r>
            <a:endParaRPr lang="en-US" sz="1750" dirty="0"/>
          </a:p>
        </p:txBody>
      </p:sp>
      <p:sp>
        <p:nvSpPr>
          <p:cNvPr id="7" name="Text 3"/>
          <p:cNvSpPr/>
          <p:nvPr/>
        </p:nvSpPr>
        <p:spPr>
          <a:xfrm>
            <a:off x="829349" y="2920405"/>
            <a:ext cx="5961112" cy="266005"/>
          </a:xfrm>
          <a:prstGeom prst="rect">
            <a:avLst/>
          </a:prstGeom>
          <a:noFill/>
          <a:ln/>
        </p:spPr>
        <p:txBody>
          <a:bodyPr wrap="none" lIns="0" tIns="0" rIns="0" bIns="0" rtlCol="0" anchor="t"/>
          <a:lstStyle/>
          <a:p>
            <a:pPr marL="0" indent="0" algn="l">
              <a:lnSpc>
                <a:spcPct val="119000"/>
              </a:lnSpc>
              <a:buNone/>
            </a:pPr>
            <a:r>
              <a:rPr lang="en-US" sz="1450" dirty="0">
                <a:solidFill>
                  <a:srgbClr val="C2C4B5"/>
                </a:solidFill>
                <a:latin typeface="Bitter" pitchFamily="34" charset="0"/>
                <a:ea typeface="Bitter" pitchFamily="34" charset="-122"/>
                <a:cs typeface="Bitter" pitchFamily="34" charset="-120"/>
              </a:rPr>
              <a:t>2520090033</a:t>
            </a:r>
            <a:endParaRPr lang="en-US" sz="14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3471466"/>
            <a:ext cx="6296860" cy="1365845"/>
          </a:xfrm>
          <a:prstGeom prst="rect">
            <a:avLst/>
          </a:prstGeom>
        </p:spPr>
      </p:pic>
      <p:sp>
        <p:nvSpPr>
          <p:cNvPr id="9" name="Text 4"/>
          <p:cNvSpPr/>
          <p:nvPr/>
        </p:nvSpPr>
        <p:spPr>
          <a:xfrm>
            <a:off x="829349" y="4054177"/>
            <a:ext cx="5961112" cy="279003"/>
          </a:xfrm>
          <a:prstGeom prst="rect">
            <a:avLst/>
          </a:prstGeom>
          <a:noFill/>
          <a:ln/>
        </p:spPr>
        <p:txBody>
          <a:bodyPr wrap="none" lIns="0" tIns="0" rIns="0" bIns="0" rtlCol="0" anchor="t"/>
          <a:lstStyle/>
          <a:p>
            <a:pPr marL="0" indent="0" algn="l">
              <a:lnSpc>
                <a:spcPct val="104000"/>
              </a:lnSpc>
              <a:buNone/>
            </a:pPr>
            <a:r>
              <a:rPr lang="en-US" sz="1750" b="1" dirty="0">
                <a:solidFill>
                  <a:srgbClr val="C2C4B5"/>
                </a:solidFill>
                <a:latin typeface="Outfit Bold" pitchFamily="34" charset="0"/>
                <a:ea typeface="Outfit Bold" pitchFamily="34" charset="-122"/>
                <a:cs typeface="Outfit Bold" pitchFamily="34" charset="-120"/>
              </a:rPr>
              <a:t>B Sree Nikhil Reddy</a:t>
            </a:r>
            <a:endParaRPr lang="en-US" sz="1750" dirty="0"/>
          </a:p>
        </p:txBody>
      </p:sp>
      <p:sp>
        <p:nvSpPr>
          <p:cNvPr id="10" name="Text 5"/>
          <p:cNvSpPr/>
          <p:nvPr/>
        </p:nvSpPr>
        <p:spPr>
          <a:xfrm>
            <a:off x="829349" y="4403427"/>
            <a:ext cx="5961112" cy="266005"/>
          </a:xfrm>
          <a:prstGeom prst="rect">
            <a:avLst/>
          </a:prstGeom>
          <a:noFill/>
          <a:ln/>
        </p:spPr>
        <p:txBody>
          <a:bodyPr wrap="none" lIns="0" tIns="0" rIns="0" bIns="0" rtlCol="0" anchor="t"/>
          <a:lstStyle/>
          <a:p>
            <a:pPr marL="0" indent="0" algn="l">
              <a:lnSpc>
                <a:spcPct val="119000"/>
              </a:lnSpc>
              <a:buNone/>
            </a:pPr>
            <a:r>
              <a:rPr lang="en-US" sz="1450" dirty="0">
                <a:solidFill>
                  <a:srgbClr val="C2C4B5"/>
                </a:solidFill>
                <a:latin typeface="Bitter" pitchFamily="34" charset="0"/>
                <a:ea typeface="Bitter" pitchFamily="34" charset="-122"/>
                <a:cs typeface="Bitter" pitchFamily="34" charset="-120"/>
              </a:rPr>
              <a:t>2520090058</a:t>
            </a:r>
            <a:endParaRPr lang="en-US" sz="14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4954488"/>
            <a:ext cx="6296860" cy="1365845"/>
          </a:xfrm>
          <a:prstGeom prst="rect">
            <a:avLst/>
          </a:prstGeom>
        </p:spPr>
      </p:pic>
      <p:sp>
        <p:nvSpPr>
          <p:cNvPr id="12" name="Text 6"/>
          <p:cNvSpPr/>
          <p:nvPr/>
        </p:nvSpPr>
        <p:spPr>
          <a:xfrm>
            <a:off x="829349" y="5537200"/>
            <a:ext cx="5961112" cy="279003"/>
          </a:xfrm>
          <a:prstGeom prst="rect">
            <a:avLst/>
          </a:prstGeom>
          <a:noFill/>
          <a:ln/>
        </p:spPr>
        <p:txBody>
          <a:bodyPr wrap="none" lIns="0" tIns="0" rIns="0" bIns="0" rtlCol="0" anchor="t"/>
          <a:lstStyle/>
          <a:p>
            <a:pPr marL="0" indent="0" algn="l">
              <a:lnSpc>
                <a:spcPct val="104000"/>
              </a:lnSpc>
              <a:buNone/>
            </a:pPr>
            <a:r>
              <a:rPr lang="en-US" sz="1750" b="1" dirty="0">
                <a:solidFill>
                  <a:srgbClr val="C2C4B5"/>
                </a:solidFill>
                <a:latin typeface="Outfit Bold" pitchFamily="34" charset="0"/>
                <a:ea typeface="Outfit Bold" pitchFamily="34" charset="-122"/>
                <a:cs typeface="Outfit Bold" pitchFamily="34" charset="-120"/>
              </a:rPr>
              <a:t>CH Vihamsh</a:t>
            </a:r>
            <a:endParaRPr lang="en-US" sz="1750" dirty="0"/>
          </a:p>
        </p:txBody>
      </p:sp>
      <p:sp>
        <p:nvSpPr>
          <p:cNvPr id="13" name="Text 7"/>
          <p:cNvSpPr/>
          <p:nvPr/>
        </p:nvSpPr>
        <p:spPr>
          <a:xfrm>
            <a:off x="829349" y="5886450"/>
            <a:ext cx="5961112" cy="266005"/>
          </a:xfrm>
          <a:prstGeom prst="rect">
            <a:avLst/>
          </a:prstGeom>
          <a:noFill/>
          <a:ln/>
        </p:spPr>
        <p:txBody>
          <a:bodyPr wrap="none" lIns="0" tIns="0" rIns="0" bIns="0" rtlCol="0" anchor="t"/>
          <a:lstStyle/>
          <a:p>
            <a:pPr marL="0" indent="0" algn="l">
              <a:lnSpc>
                <a:spcPct val="119000"/>
              </a:lnSpc>
              <a:buNone/>
            </a:pPr>
            <a:r>
              <a:rPr lang="en-US" sz="1450" dirty="0">
                <a:solidFill>
                  <a:srgbClr val="C2C4B5"/>
                </a:solidFill>
                <a:latin typeface="Bitter" pitchFamily="34" charset="0"/>
                <a:ea typeface="Bitter" pitchFamily="34" charset="-122"/>
                <a:cs typeface="Bitter" pitchFamily="34" charset="-120"/>
              </a:rPr>
              <a:t>2520090090</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796627"/>
            <a:ext cx="10868745" cy="383977"/>
          </a:xfrm>
          <a:prstGeom prst="rect">
            <a:avLst/>
          </a:prstGeom>
          <a:noFill/>
          <a:ln/>
        </p:spPr>
        <p:txBody>
          <a:bodyPr wrap="none" lIns="0" tIns="0" rIns="0" bIns="0" rtlCol="0" anchor="t"/>
          <a:lstStyle/>
          <a:p>
            <a:pPr marL="0" indent="0" algn="l">
              <a:lnSpc>
                <a:spcPct val="104000"/>
              </a:lnSpc>
              <a:buNone/>
            </a:pPr>
            <a:r>
              <a:rPr lang="en-US" sz="2400" b="1" dirty="0">
                <a:solidFill>
                  <a:srgbClr val="E1E5CD"/>
                </a:solidFill>
                <a:latin typeface="Outfit Bold" pitchFamily="34" charset="0"/>
                <a:ea typeface="Outfit Bold" pitchFamily="34" charset="-122"/>
                <a:cs typeface="Outfit Bold" pitchFamily="34" charset="-120"/>
              </a:rPr>
              <a:t>Problem Statement</a:t>
            </a:r>
            <a:endParaRPr lang="en-US" sz="2400" dirty="0"/>
          </a:p>
        </p:txBody>
      </p:sp>
      <p:sp>
        <p:nvSpPr>
          <p:cNvPr id="4" name="Text 1"/>
          <p:cNvSpPr/>
          <p:nvPr/>
        </p:nvSpPr>
        <p:spPr>
          <a:xfrm>
            <a:off x="7927181" y="1380133"/>
            <a:ext cx="3609289" cy="191988"/>
          </a:xfrm>
          <a:prstGeom prst="rect">
            <a:avLst/>
          </a:prstGeom>
          <a:noFill/>
          <a:ln/>
        </p:spPr>
        <p:txBody>
          <a:bodyPr wrap="none" lIns="0" tIns="0" rIns="0" bIns="0" rtlCol="0" anchor="t"/>
          <a:lstStyle/>
          <a:p>
            <a:pPr marL="0" indent="0" algn="l">
              <a:lnSpc>
                <a:spcPct val="104000"/>
              </a:lnSpc>
              <a:buNone/>
            </a:pPr>
            <a:r>
              <a:rPr lang="en-US" sz="1200" b="1" dirty="0">
                <a:solidFill>
                  <a:srgbClr val="E1E5CD"/>
                </a:solidFill>
                <a:latin typeface="Outfit Bold" pitchFamily="34" charset="0"/>
                <a:ea typeface="Outfit Bold" pitchFamily="34" charset="-122"/>
                <a:cs typeface="Outfit Bold" pitchFamily="34" charset="-120"/>
              </a:rPr>
              <a:t>Key Challenges</a:t>
            </a:r>
            <a:endParaRPr lang="en-US" sz="12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27181" y="1661914"/>
            <a:ext cx="3609289" cy="879177"/>
          </a:xfrm>
          <a:prstGeom prst="rect">
            <a:avLst/>
          </a:prstGeom>
        </p:spPr>
      </p:pic>
      <p:sp>
        <p:nvSpPr>
          <p:cNvPr id="6" name="Text 2"/>
          <p:cNvSpPr/>
          <p:nvPr/>
        </p:nvSpPr>
        <p:spPr>
          <a:xfrm>
            <a:off x="8113510" y="1797447"/>
            <a:ext cx="3287432" cy="608112"/>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C2C4B5"/>
                </a:solidFill>
                <a:latin typeface="Bitter" pitchFamily="34" charset="0"/>
                <a:ea typeface="Bitter" pitchFamily="34" charset="-122"/>
                <a:cs typeface="Bitter" pitchFamily="34" charset="-120"/>
              </a:rPr>
              <a:t>Property searching is often handled through multiple websites, agents, or manual processes.</a:t>
            </a:r>
            <a:endParaRPr lang="en-US" sz="12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27181" y="2620863"/>
            <a:ext cx="3609289" cy="676473"/>
          </a:xfrm>
          <a:prstGeom prst="rect">
            <a:avLst/>
          </a:prstGeom>
        </p:spPr>
      </p:pic>
      <p:sp>
        <p:nvSpPr>
          <p:cNvPr id="8" name="Text 3"/>
          <p:cNvSpPr/>
          <p:nvPr/>
        </p:nvSpPr>
        <p:spPr>
          <a:xfrm>
            <a:off x="8113510" y="2756396"/>
            <a:ext cx="3287432" cy="405408"/>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C2C4B5"/>
                </a:solidFill>
                <a:latin typeface="Bitter" pitchFamily="34" charset="0"/>
                <a:ea typeface="Bitter" pitchFamily="34" charset="-122"/>
                <a:cs typeface="Bitter" pitchFamily="34" charset="-120"/>
              </a:rPr>
              <a:t>Buyers may not have complete and updated information about available properties.</a:t>
            </a:r>
            <a:endParaRPr lang="en-US" sz="1200" dirty="0"/>
          </a:p>
        </p:txBody>
      </p:sp>
      <p:pic>
        <p:nvPicPr>
          <p:cNvPr id="9"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27181" y="3377109"/>
            <a:ext cx="3609289" cy="879177"/>
          </a:xfrm>
          <a:prstGeom prst="rect">
            <a:avLst/>
          </a:prstGeom>
        </p:spPr>
      </p:pic>
      <p:sp>
        <p:nvSpPr>
          <p:cNvPr id="10" name="Text 4"/>
          <p:cNvSpPr/>
          <p:nvPr/>
        </p:nvSpPr>
        <p:spPr>
          <a:xfrm>
            <a:off x="8113510" y="3512641"/>
            <a:ext cx="3287432" cy="608112"/>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C2C4B5"/>
                </a:solidFill>
                <a:latin typeface="Bitter" pitchFamily="34" charset="0"/>
                <a:ea typeface="Bitter" pitchFamily="34" charset="-122"/>
                <a:cs typeface="Bitter" pitchFamily="34" charset="-120"/>
              </a:rPr>
              <a:t>Comparing properties based on price, location, amenities, and other details can be difficult.</a:t>
            </a:r>
            <a:endParaRPr lang="en-US" sz="1200" dirty="0"/>
          </a:p>
        </p:txBody>
      </p:sp>
      <p:pic>
        <p:nvPicPr>
          <p:cNvPr id="11"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27181" y="4336058"/>
            <a:ext cx="3609289" cy="676473"/>
          </a:xfrm>
          <a:prstGeom prst="rect">
            <a:avLst/>
          </a:prstGeom>
        </p:spPr>
      </p:pic>
      <p:sp>
        <p:nvSpPr>
          <p:cNvPr id="12" name="Text 5"/>
          <p:cNvSpPr/>
          <p:nvPr/>
        </p:nvSpPr>
        <p:spPr>
          <a:xfrm>
            <a:off x="8113510" y="4471591"/>
            <a:ext cx="3287432" cy="405408"/>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C2C4B5"/>
                </a:solidFill>
                <a:latin typeface="Bitter" pitchFamily="34" charset="0"/>
                <a:ea typeface="Bitter" pitchFamily="34" charset="-122"/>
                <a:cs typeface="Bitter" pitchFamily="34" charset="-120"/>
              </a:rPr>
              <a:t>Property documents, site-visit details, and communication may be managed separately.</a:t>
            </a:r>
            <a:endParaRPr lang="en-US" sz="1200" dirty="0"/>
          </a:p>
        </p:txBody>
      </p:sp>
      <p:pic>
        <p:nvPicPr>
          <p:cNvPr id="13"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27181" y="5092303"/>
            <a:ext cx="3609289" cy="879177"/>
          </a:xfrm>
          <a:prstGeom prst="rect">
            <a:avLst/>
          </a:prstGeom>
        </p:spPr>
      </p:pic>
      <p:sp>
        <p:nvSpPr>
          <p:cNvPr id="14" name="Text 6"/>
          <p:cNvSpPr/>
          <p:nvPr/>
        </p:nvSpPr>
        <p:spPr>
          <a:xfrm>
            <a:off x="8113510" y="5227836"/>
            <a:ext cx="3287432" cy="608112"/>
          </a:xfrm>
          <a:prstGeom prst="rect">
            <a:avLst/>
          </a:prstGeom>
          <a:noFill/>
          <a:ln/>
        </p:spPr>
        <p:txBody>
          <a:bodyPr wrap="square" lIns="0" tIns="0" rIns="0" bIns="0" rtlCol="0" anchor="t">
            <a:normAutofit/>
          </a:bodyPr>
          <a:lstStyle/>
          <a:p>
            <a:pPr marL="0" indent="0" algn="l">
              <a:lnSpc>
                <a:spcPct val="110000"/>
              </a:lnSpc>
              <a:buNone/>
            </a:pPr>
            <a:r>
              <a:rPr lang="en-US" sz="1200" dirty="0">
                <a:solidFill>
                  <a:srgbClr val="C2C4B5"/>
                </a:solidFill>
                <a:latin typeface="Bitter" pitchFamily="34" charset="0"/>
                <a:ea typeface="Bitter" pitchFamily="34" charset="-122"/>
                <a:cs typeface="Bitter" pitchFamily="34" charset="-120"/>
              </a:rPr>
              <a:t>Buyers need better transparency and communication throughout the property-buying process.</a:t>
            </a:r>
            <a:endParaRPr lang="en-US" sz="1200" dirty="0"/>
          </a:p>
        </p:txBody>
      </p:sp>
      <p:pic>
        <p:nvPicPr>
          <p:cNvPr id="16" name="Picture 15">
            <a:extLst>
              <a:ext uri="{FF2B5EF4-FFF2-40B4-BE49-F238E27FC236}">
                <a16:creationId xmlns:a16="http://schemas.microsoft.com/office/drawing/2014/main" id="{3CA06AF4-C7A5-A99E-D238-3CB88C40123D}"/>
              </a:ext>
            </a:extLst>
          </p:cNvPr>
          <p:cNvPicPr>
            <a:picLocks noChangeAspect="1"/>
          </p:cNvPicPr>
          <p:nvPr/>
        </p:nvPicPr>
        <p:blipFill>
          <a:blip r:embed="rId5"/>
          <a:stretch>
            <a:fillRect/>
          </a:stretch>
        </p:blipFill>
        <p:spPr>
          <a:xfrm>
            <a:off x="11054964" y="6576036"/>
            <a:ext cx="1074513" cy="281964"/>
          </a:xfrm>
          <a:prstGeom prst="rect">
            <a:avLst/>
          </a:prstGeom>
        </p:spPr>
      </p:pic>
      <p:pic>
        <p:nvPicPr>
          <p:cNvPr id="17" name="Picture 16" descr="Buildings | Department of Energy">
            <a:extLst>
              <a:ext uri="{FF2B5EF4-FFF2-40B4-BE49-F238E27FC236}">
                <a16:creationId xmlns:a16="http://schemas.microsoft.com/office/drawing/2014/main" id="{80BAC2B6-0E23-CEB0-B5E9-78C6B7F05B06}"/>
              </a:ext>
            </a:extLst>
          </p:cNvPr>
          <p:cNvPicPr>
            <a:picLocks noChangeAspect="1"/>
          </p:cNvPicPr>
          <p:nvPr/>
        </p:nvPicPr>
        <p:blipFill>
          <a:blip r:embed="rId6"/>
          <a:stretch>
            <a:fillRect/>
          </a:stretch>
        </p:blipFill>
        <p:spPr>
          <a:xfrm>
            <a:off x="791058" y="1705720"/>
            <a:ext cx="6117742" cy="408222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33363"/>
            <a:ext cx="10868745" cy="590649"/>
          </a:xfrm>
          <a:prstGeom prst="rect">
            <a:avLst/>
          </a:prstGeom>
          <a:noFill/>
          <a:ln/>
        </p:spPr>
        <p:txBody>
          <a:bodyPr wrap="none" lIns="0" tIns="0" rIns="0" bIns="0" rtlCol="0" anchor="t"/>
          <a:lstStyle/>
          <a:p>
            <a:pPr marL="0" indent="0" algn="l">
              <a:lnSpc>
                <a:spcPct val="104000"/>
              </a:lnSpc>
              <a:buNone/>
            </a:pPr>
            <a:r>
              <a:rPr lang="en-US" sz="3700" b="1" dirty="0">
                <a:solidFill>
                  <a:srgbClr val="E1E5CD"/>
                </a:solidFill>
                <a:latin typeface="Outfit Bold" pitchFamily="34" charset="0"/>
                <a:ea typeface="Outfit Bold" pitchFamily="34" charset="-122"/>
                <a:cs typeface="Outfit Bold" pitchFamily="34" charset="-120"/>
              </a:rPr>
              <a:t>Objectives</a:t>
            </a:r>
            <a:endParaRPr lang="en-US" sz="370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002036"/>
            <a:ext cx="472468" cy="472480"/>
          </a:xfrm>
          <a:prstGeom prst="rect">
            <a:avLst/>
          </a:prstGeom>
        </p:spPr>
      </p:pic>
      <p:sp>
        <p:nvSpPr>
          <p:cNvPr id="4" name="Text 1"/>
          <p:cNvSpPr/>
          <p:nvPr/>
        </p:nvSpPr>
        <p:spPr>
          <a:xfrm>
            <a:off x="661475" y="2710755"/>
            <a:ext cx="5316206" cy="295275"/>
          </a:xfrm>
          <a:prstGeom prst="rect">
            <a:avLst/>
          </a:prstGeom>
          <a:noFill/>
          <a:ln/>
        </p:spPr>
        <p:txBody>
          <a:bodyPr wrap="none" lIns="0" tIns="0" rIns="0" bIns="0" rtlCol="0" anchor="t"/>
          <a:lstStyle/>
          <a:p>
            <a:pPr marL="0" indent="0" algn="l">
              <a:lnSpc>
                <a:spcPct val="104000"/>
              </a:lnSpc>
              <a:buNone/>
            </a:pPr>
            <a:r>
              <a:rPr lang="en-US" sz="1850" b="1" dirty="0">
                <a:solidFill>
                  <a:srgbClr val="C2C4B5"/>
                </a:solidFill>
                <a:latin typeface="Outfit Bold" pitchFamily="34" charset="0"/>
                <a:ea typeface="Outfit Bold" pitchFamily="34" charset="-122"/>
                <a:cs typeface="Outfit Bold" pitchFamily="34" charset="-120"/>
              </a:rPr>
              <a:t>Streamlined Search</a:t>
            </a:r>
            <a:endParaRPr lang="en-US" sz="1850" dirty="0"/>
          </a:p>
        </p:txBody>
      </p:sp>
      <p:sp>
        <p:nvSpPr>
          <p:cNvPr id="5" name="Text 2"/>
          <p:cNvSpPr/>
          <p:nvPr/>
        </p:nvSpPr>
        <p:spPr>
          <a:xfrm>
            <a:off x="661475" y="3119438"/>
            <a:ext cx="53162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C2C4B5"/>
                </a:solidFill>
                <a:latin typeface="Bitter" pitchFamily="34" charset="0"/>
                <a:ea typeface="Bitter" pitchFamily="34" charset="-122"/>
                <a:cs typeface="Bitter" pitchFamily="34" charset="-120"/>
              </a:rPr>
              <a:t>Simplify property search and discovery for end users with intelligent tools.</a:t>
            </a:r>
            <a:endParaRPr lang="en-US" sz="145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3915" y="2002036"/>
            <a:ext cx="472468" cy="472480"/>
          </a:xfrm>
          <a:prstGeom prst="rect">
            <a:avLst/>
          </a:prstGeom>
        </p:spPr>
      </p:pic>
      <p:sp>
        <p:nvSpPr>
          <p:cNvPr id="7" name="Text 3"/>
          <p:cNvSpPr/>
          <p:nvPr/>
        </p:nvSpPr>
        <p:spPr>
          <a:xfrm>
            <a:off x="6213915" y="2710755"/>
            <a:ext cx="5316305" cy="295275"/>
          </a:xfrm>
          <a:prstGeom prst="rect">
            <a:avLst/>
          </a:prstGeom>
          <a:noFill/>
          <a:ln/>
        </p:spPr>
        <p:txBody>
          <a:bodyPr wrap="none" lIns="0" tIns="0" rIns="0" bIns="0" rtlCol="0" anchor="t"/>
          <a:lstStyle/>
          <a:p>
            <a:pPr marL="0" indent="0" algn="l">
              <a:lnSpc>
                <a:spcPct val="104000"/>
              </a:lnSpc>
              <a:buNone/>
            </a:pPr>
            <a:r>
              <a:rPr lang="en-US" sz="1850" b="1" dirty="0">
                <a:solidFill>
                  <a:srgbClr val="C2C4B5"/>
                </a:solidFill>
                <a:latin typeface="Outfit Bold" pitchFamily="34" charset="0"/>
                <a:ea typeface="Outfit Bold" pitchFamily="34" charset="-122"/>
                <a:cs typeface="Outfit Bold" pitchFamily="34" charset="-120"/>
              </a:rPr>
              <a:t>Centralized Database</a:t>
            </a:r>
            <a:endParaRPr lang="en-US" sz="1850" dirty="0"/>
          </a:p>
        </p:txBody>
      </p:sp>
      <p:sp>
        <p:nvSpPr>
          <p:cNvPr id="8" name="Text 4"/>
          <p:cNvSpPr/>
          <p:nvPr/>
        </p:nvSpPr>
        <p:spPr>
          <a:xfrm>
            <a:off x="6213915" y="3119438"/>
            <a:ext cx="5316305" cy="302419"/>
          </a:xfrm>
          <a:prstGeom prst="rect">
            <a:avLst/>
          </a:prstGeom>
          <a:noFill/>
          <a:ln/>
        </p:spPr>
        <p:txBody>
          <a:bodyPr wrap="none" lIns="0" tIns="0" rIns="0" bIns="0" rtlCol="0" anchor="t"/>
          <a:lstStyle/>
          <a:p>
            <a:pPr marL="0" indent="0" algn="l">
              <a:lnSpc>
                <a:spcPct val="133000"/>
              </a:lnSpc>
              <a:buNone/>
            </a:pPr>
            <a:r>
              <a:rPr lang="en-US" sz="1450" dirty="0">
                <a:solidFill>
                  <a:srgbClr val="C2C4B5"/>
                </a:solidFill>
                <a:latin typeface="Bitter" pitchFamily="34" charset="0"/>
                <a:ea typeface="Bitter" pitchFamily="34" charset="-122"/>
                <a:cs typeface="Bitter" pitchFamily="34" charset="-120"/>
              </a:rPr>
              <a:t>Create a single, reliable database hub for all property listings.</a:t>
            </a:r>
            <a:endParaRPr lang="en-US" sz="145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4102298"/>
            <a:ext cx="472468" cy="472480"/>
          </a:xfrm>
          <a:prstGeom prst="rect">
            <a:avLst/>
          </a:prstGeom>
        </p:spPr>
      </p:pic>
      <p:sp>
        <p:nvSpPr>
          <p:cNvPr id="10" name="Text 5"/>
          <p:cNvSpPr/>
          <p:nvPr/>
        </p:nvSpPr>
        <p:spPr>
          <a:xfrm>
            <a:off x="661475" y="4811018"/>
            <a:ext cx="5316206" cy="295275"/>
          </a:xfrm>
          <a:prstGeom prst="rect">
            <a:avLst/>
          </a:prstGeom>
          <a:noFill/>
          <a:ln/>
        </p:spPr>
        <p:txBody>
          <a:bodyPr wrap="none" lIns="0" tIns="0" rIns="0" bIns="0" rtlCol="0" anchor="t"/>
          <a:lstStyle/>
          <a:p>
            <a:pPr marL="0" indent="0" algn="l">
              <a:lnSpc>
                <a:spcPct val="104000"/>
              </a:lnSpc>
              <a:buNone/>
            </a:pPr>
            <a:r>
              <a:rPr lang="en-US" sz="1850" b="1" dirty="0">
                <a:solidFill>
                  <a:srgbClr val="C2C4B5"/>
                </a:solidFill>
                <a:latin typeface="Outfit Bold" pitchFamily="34" charset="0"/>
                <a:ea typeface="Outfit Bold" pitchFamily="34" charset="-122"/>
                <a:cs typeface="Outfit Bold" pitchFamily="34" charset="-120"/>
              </a:rPr>
              <a:t>Filter &amp; Compare</a:t>
            </a:r>
            <a:endParaRPr lang="en-US" sz="1850" dirty="0"/>
          </a:p>
        </p:txBody>
      </p:sp>
      <p:sp>
        <p:nvSpPr>
          <p:cNvPr id="11" name="Text 6"/>
          <p:cNvSpPr/>
          <p:nvPr/>
        </p:nvSpPr>
        <p:spPr>
          <a:xfrm>
            <a:off x="661475" y="5219700"/>
            <a:ext cx="5316206"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C2C4B5"/>
                </a:solidFill>
                <a:latin typeface="Bitter" pitchFamily="34" charset="0"/>
                <a:ea typeface="Bitter" pitchFamily="34" charset="-122"/>
                <a:cs typeface="Bitter" pitchFamily="34" charset="-120"/>
              </a:rPr>
              <a:t>Implement efficient filtering and comparison tools for smarter decisions.</a:t>
            </a:r>
            <a:endParaRPr lang="en-US" sz="145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3915" y="4102298"/>
            <a:ext cx="472468" cy="472480"/>
          </a:xfrm>
          <a:prstGeom prst="rect">
            <a:avLst/>
          </a:prstGeom>
        </p:spPr>
      </p:pic>
      <p:sp>
        <p:nvSpPr>
          <p:cNvPr id="13" name="Text 7"/>
          <p:cNvSpPr/>
          <p:nvPr/>
        </p:nvSpPr>
        <p:spPr>
          <a:xfrm>
            <a:off x="6213915" y="4811018"/>
            <a:ext cx="5316305" cy="295275"/>
          </a:xfrm>
          <a:prstGeom prst="rect">
            <a:avLst/>
          </a:prstGeom>
          <a:noFill/>
          <a:ln/>
        </p:spPr>
        <p:txBody>
          <a:bodyPr wrap="none" lIns="0" tIns="0" rIns="0" bIns="0" rtlCol="0" anchor="t"/>
          <a:lstStyle/>
          <a:p>
            <a:pPr marL="0" indent="0" algn="l">
              <a:lnSpc>
                <a:spcPct val="104000"/>
              </a:lnSpc>
              <a:buNone/>
            </a:pPr>
            <a:r>
              <a:rPr lang="en-US" sz="1850" b="1" dirty="0">
                <a:solidFill>
                  <a:srgbClr val="C2C4B5"/>
                </a:solidFill>
                <a:latin typeface="Outfit Bold" pitchFamily="34" charset="0"/>
                <a:ea typeface="Outfit Bold" pitchFamily="34" charset="-122"/>
                <a:cs typeface="Outfit Bold" pitchFamily="34" charset="-120"/>
              </a:rPr>
              <a:t>Seamless UX</a:t>
            </a:r>
            <a:endParaRPr lang="en-US" sz="1850" dirty="0"/>
          </a:p>
        </p:txBody>
      </p:sp>
      <p:sp>
        <p:nvSpPr>
          <p:cNvPr id="14" name="Text 8"/>
          <p:cNvSpPr/>
          <p:nvPr/>
        </p:nvSpPr>
        <p:spPr>
          <a:xfrm>
            <a:off x="6213915" y="5219700"/>
            <a:ext cx="531630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C2C4B5"/>
                </a:solidFill>
                <a:latin typeface="Bitter" pitchFamily="34" charset="0"/>
                <a:ea typeface="Bitter" pitchFamily="34" charset="-122"/>
                <a:cs typeface="Bitter" pitchFamily="34" charset="-120"/>
              </a:rPr>
              <a:t>Deliver a smooth user experience across all platforms and screen sizes.</a:t>
            </a:r>
            <a:endParaRPr lang="en-US" sz="1450" dirty="0"/>
          </a:p>
        </p:txBody>
      </p:sp>
      <p:pic>
        <p:nvPicPr>
          <p:cNvPr id="16" name="Picture 15">
            <a:extLst>
              <a:ext uri="{FF2B5EF4-FFF2-40B4-BE49-F238E27FC236}">
                <a16:creationId xmlns:a16="http://schemas.microsoft.com/office/drawing/2014/main" id="{85370D41-2125-9F53-D343-D73F34862E49}"/>
              </a:ext>
            </a:extLst>
          </p:cNvPr>
          <p:cNvPicPr>
            <a:picLocks noChangeAspect="1"/>
          </p:cNvPicPr>
          <p:nvPr/>
        </p:nvPicPr>
        <p:blipFill>
          <a:blip r:embed="rId7"/>
          <a:stretch>
            <a:fillRect/>
          </a:stretch>
        </p:blipFill>
        <p:spPr>
          <a:xfrm>
            <a:off x="11054964" y="6576036"/>
            <a:ext cx="1074513" cy="2819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666055"/>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E1E5CD"/>
                </a:solidFill>
                <a:latin typeface="Outfit Bold" pitchFamily="34" charset="0"/>
                <a:ea typeface="Outfit Bold" pitchFamily="34" charset="-122"/>
                <a:cs typeface="Outfit Bold" pitchFamily="34" charset="-120"/>
              </a:rPr>
              <a:t>Proposed System</a:t>
            </a:r>
            <a:endParaRPr lang="en-US" sz="2950" dirty="0"/>
          </a:p>
        </p:txBody>
      </p:sp>
      <p:sp>
        <p:nvSpPr>
          <p:cNvPr id="3" name="Shape 1"/>
          <p:cNvSpPr/>
          <p:nvPr/>
        </p:nvSpPr>
        <p:spPr>
          <a:xfrm>
            <a:off x="661475" y="1455936"/>
            <a:ext cx="340213" cy="340221"/>
          </a:xfrm>
          <a:prstGeom prst="roundRect">
            <a:avLst>
              <a:gd name="adj" fmla="val 6667"/>
            </a:avLst>
          </a:prstGeom>
          <a:solidFill>
            <a:srgbClr val="3B3C3E"/>
          </a:solidFill>
          <a:ln/>
        </p:spPr>
      </p:sp>
      <p:sp>
        <p:nvSpPr>
          <p:cNvPr id="4" name="Text 2"/>
          <p:cNvSpPr/>
          <p:nvPr/>
        </p:nvSpPr>
        <p:spPr>
          <a:xfrm>
            <a:off x="718127" y="1484263"/>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C2C4B5"/>
                </a:solidFill>
                <a:latin typeface="Outfit Bold" pitchFamily="34" charset="0"/>
                <a:ea typeface="Outfit Bold" pitchFamily="34" charset="-122"/>
                <a:cs typeface="Outfit Bold" pitchFamily="34" charset="-120"/>
              </a:rPr>
              <a:t>1</a:t>
            </a:r>
            <a:endParaRPr lang="en-US" sz="1750" dirty="0"/>
          </a:p>
        </p:txBody>
      </p:sp>
      <p:sp>
        <p:nvSpPr>
          <p:cNvPr id="5" name="Text 3"/>
          <p:cNvSpPr/>
          <p:nvPr/>
        </p:nvSpPr>
        <p:spPr>
          <a:xfrm>
            <a:off x="1122632" y="1474788"/>
            <a:ext cx="3103088" cy="816471"/>
          </a:xfrm>
          <a:prstGeom prst="rect">
            <a:avLst/>
          </a:prstGeom>
          <a:noFill/>
          <a:ln/>
        </p:spPr>
        <p:txBody>
          <a:bodyPr wrap="square" lIns="0" tIns="0" rIns="0" bIns="0" rtlCol="0" anchor="t">
            <a:normAutofit/>
          </a:bodyPr>
          <a:lstStyle/>
          <a:p>
            <a:pPr marL="0" indent="0" algn="l">
              <a:lnSpc>
                <a:spcPct val="120000"/>
              </a:lnSpc>
              <a:buNone/>
            </a:pPr>
            <a:r>
              <a:rPr lang="en-US" sz="1450" dirty="0">
                <a:solidFill>
                  <a:srgbClr val="C2C4B5"/>
                </a:solidFill>
                <a:latin typeface="Bitter" pitchFamily="34" charset="0"/>
                <a:ea typeface="Bitter" pitchFamily="34" charset="-122"/>
                <a:cs typeface="Bitter" pitchFamily="34" charset="-120"/>
              </a:rPr>
              <a:t>A centralized mobile system for managing the property buying process.</a:t>
            </a:r>
            <a:endParaRPr lang="en-US" sz="1450" dirty="0"/>
          </a:p>
        </p:txBody>
      </p:sp>
      <p:sp>
        <p:nvSpPr>
          <p:cNvPr id="6" name="Shape 4"/>
          <p:cNvSpPr/>
          <p:nvPr/>
        </p:nvSpPr>
        <p:spPr>
          <a:xfrm>
            <a:off x="661475" y="2533154"/>
            <a:ext cx="340213" cy="340221"/>
          </a:xfrm>
          <a:prstGeom prst="roundRect">
            <a:avLst>
              <a:gd name="adj" fmla="val 6667"/>
            </a:avLst>
          </a:prstGeom>
          <a:solidFill>
            <a:srgbClr val="3B3C3E"/>
          </a:solidFill>
          <a:ln/>
        </p:spPr>
      </p:sp>
      <p:sp>
        <p:nvSpPr>
          <p:cNvPr id="7" name="Text 5"/>
          <p:cNvSpPr/>
          <p:nvPr/>
        </p:nvSpPr>
        <p:spPr>
          <a:xfrm>
            <a:off x="718127" y="2561481"/>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C2C4B5"/>
                </a:solidFill>
                <a:latin typeface="Outfit Bold" pitchFamily="34" charset="0"/>
                <a:ea typeface="Outfit Bold" pitchFamily="34" charset="-122"/>
                <a:cs typeface="Outfit Bold" pitchFamily="34" charset="-120"/>
              </a:rPr>
              <a:t>2</a:t>
            </a:r>
            <a:endParaRPr lang="en-US" sz="1750" dirty="0"/>
          </a:p>
        </p:txBody>
      </p:sp>
      <p:sp>
        <p:nvSpPr>
          <p:cNvPr id="8" name="Text 6"/>
          <p:cNvSpPr/>
          <p:nvPr/>
        </p:nvSpPr>
        <p:spPr>
          <a:xfrm>
            <a:off x="1122632" y="2552005"/>
            <a:ext cx="3103088" cy="544314"/>
          </a:xfrm>
          <a:prstGeom prst="rect">
            <a:avLst/>
          </a:prstGeom>
          <a:noFill/>
          <a:ln/>
        </p:spPr>
        <p:txBody>
          <a:bodyPr wrap="square" lIns="0" tIns="0" rIns="0" bIns="0" rtlCol="0" anchor="t">
            <a:normAutofit/>
          </a:bodyPr>
          <a:lstStyle/>
          <a:p>
            <a:pPr marL="0" indent="0" algn="l">
              <a:lnSpc>
                <a:spcPct val="120000"/>
              </a:lnSpc>
              <a:buNone/>
            </a:pPr>
            <a:r>
              <a:rPr lang="en-US" sz="1450" dirty="0">
                <a:solidFill>
                  <a:srgbClr val="C2C4B5"/>
                </a:solidFill>
                <a:latin typeface="Bitter" pitchFamily="34" charset="0"/>
                <a:ea typeface="Bitter" pitchFamily="34" charset="-122"/>
                <a:cs typeface="Bitter" pitchFamily="34" charset="-120"/>
              </a:rPr>
              <a:t>Buyers can easily search and explore available properties.</a:t>
            </a:r>
            <a:endParaRPr lang="en-US" sz="1450" dirty="0"/>
          </a:p>
        </p:txBody>
      </p:sp>
      <p:sp>
        <p:nvSpPr>
          <p:cNvPr id="9" name="Shape 7"/>
          <p:cNvSpPr/>
          <p:nvPr/>
        </p:nvSpPr>
        <p:spPr>
          <a:xfrm>
            <a:off x="661475" y="3338215"/>
            <a:ext cx="340213" cy="340221"/>
          </a:xfrm>
          <a:prstGeom prst="roundRect">
            <a:avLst>
              <a:gd name="adj" fmla="val 6667"/>
            </a:avLst>
          </a:prstGeom>
          <a:solidFill>
            <a:srgbClr val="3B3C3E"/>
          </a:solidFill>
          <a:ln/>
        </p:spPr>
      </p:sp>
      <p:sp>
        <p:nvSpPr>
          <p:cNvPr id="10" name="Text 8"/>
          <p:cNvSpPr/>
          <p:nvPr/>
        </p:nvSpPr>
        <p:spPr>
          <a:xfrm>
            <a:off x="718127" y="3366542"/>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C2C4B5"/>
                </a:solidFill>
                <a:latin typeface="Outfit Bold" pitchFamily="34" charset="0"/>
                <a:ea typeface="Outfit Bold" pitchFamily="34" charset="-122"/>
                <a:cs typeface="Outfit Bold" pitchFamily="34" charset="-120"/>
              </a:rPr>
              <a:t>3</a:t>
            </a:r>
            <a:endParaRPr lang="en-US" sz="1750" dirty="0"/>
          </a:p>
        </p:txBody>
      </p:sp>
      <p:sp>
        <p:nvSpPr>
          <p:cNvPr id="11" name="Text 9"/>
          <p:cNvSpPr/>
          <p:nvPr/>
        </p:nvSpPr>
        <p:spPr>
          <a:xfrm>
            <a:off x="1122632" y="3357066"/>
            <a:ext cx="3103088" cy="816471"/>
          </a:xfrm>
          <a:prstGeom prst="rect">
            <a:avLst/>
          </a:prstGeom>
          <a:noFill/>
          <a:ln/>
        </p:spPr>
        <p:txBody>
          <a:bodyPr wrap="square" lIns="0" tIns="0" rIns="0" bIns="0" rtlCol="0" anchor="t">
            <a:normAutofit/>
          </a:bodyPr>
          <a:lstStyle/>
          <a:p>
            <a:pPr marL="0" indent="0" algn="l">
              <a:lnSpc>
                <a:spcPct val="120000"/>
              </a:lnSpc>
              <a:buNone/>
            </a:pPr>
            <a:r>
              <a:rPr lang="en-US" sz="1450" dirty="0">
                <a:solidFill>
                  <a:srgbClr val="C2C4B5"/>
                </a:solidFill>
                <a:latin typeface="Bitter" pitchFamily="34" charset="0"/>
                <a:ea typeface="Bitter" pitchFamily="34" charset="-122"/>
                <a:cs typeface="Bitter" pitchFamily="34" charset="-120"/>
              </a:rPr>
              <a:t>Property details such as price, location, area, and amenities are displayed.</a:t>
            </a:r>
            <a:endParaRPr lang="en-US" sz="1450" dirty="0"/>
          </a:p>
        </p:txBody>
      </p:sp>
      <p:sp>
        <p:nvSpPr>
          <p:cNvPr id="12" name="Shape 10"/>
          <p:cNvSpPr/>
          <p:nvPr/>
        </p:nvSpPr>
        <p:spPr>
          <a:xfrm>
            <a:off x="661475" y="4415433"/>
            <a:ext cx="340213" cy="340221"/>
          </a:xfrm>
          <a:prstGeom prst="roundRect">
            <a:avLst>
              <a:gd name="adj" fmla="val 6667"/>
            </a:avLst>
          </a:prstGeom>
          <a:solidFill>
            <a:srgbClr val="3B3C3E"/>
          </a:solidFill>
          <a:ln/>
        </p:spPr>
      </p:sp>
      <p:sp>
        <p:nvSpPr>
          <p:cNvPr id="13" name="Text 11"/>
          <p:cNvSpPr/>
          <p:nvPr/>
        </p:nvSpPr>
        <p:spPr>
          <a:xfrm>
            <a:off x="718127" y="4443760"/>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C2C4B5"/>
                </a:solidFill>
                <a:latin typeface="Outfit Bold" pitchFamily="34" charset="0"/>
                <a:ea typeface="Outfit Bold" pitchFamily="34" charset="-122"/>
                <a:cs typeface="Outfit Bold" pitchFamily="34" charset="-120"/>
              </a:rPr>
              <a:t>4</a:t>
            </a:r>
            <a:endParaRPr lang="en-US" sz="1750" dirty="0"/>
          </a:p>
        </p:txBody>
      </p:sp>
      <p:sp>
        <p:nvSpPr>
          <p:cNvPr id="14" name="Text 12"/>
          <p:cNvSpPr/>
          <p:nvPr/>
        </p:nvSpPr>
        <p:spPr>
          <a:xfrm>
            <a:off x="1122632" y="4434284"/>
            <a:ext cx="3103088" cy="816471"/>
          </a:xfrm>
          <a:prstGeom prst="rect">
            <a:avLst/>
          </a:prstGeom>
          <a:noFill/>
          <a:ln/>
        </p:spPr>
        <p:txBody>
          <a:bodyPr wrap="square" lIns="0" tIns="0" rIns="0" bIns="0" rtlCol="0" anchor="t">
            <a:normAutofit/>
          </a:bodyPr>
          <a:lstStyle/>
          <a:p>
            <a:pPr marL="0" indent="0" algn="l">
              <a:lnSpc>
                <a:spcPct val="120000"/>
              </a:lnSpc>
              <a:buNone/>
            </a:pPr>
            <a:r>
              <a:rPr lang="en-US" sz="1450" dirty="0">
                <a:solidFill>
                  <a:srgbClr val="C2C4B5"/>
                </a:solidFill>
                <a:latin typeface="Bitter" pitchFamily="34" charset="0"/>
                <a:ea typeface="Bitter" pitchFamily="34" charset="-122"/>
                <a:cs typeface="Bitter" pitchFamily="34" charset="-120"/>
              </a:rPr>
              <a:t>Buyers can filter and compare properties based on their preferences.</a:t>
            </a:r>
            <a:endParaRPr lang="en-US" sz="1450" dirty="0"/>
          </a:p>
        </p:txBody>
      </p:sp>
      <p:sp>
        <p:nvSpPr>
          <p:cNvPr id="15" name="Shape 13"/>
          <p:cNvSpPr/>
          <p:nvPr/>
        </p:nvSpPr>
        <p:spPr>
          <a:xfrm>
            <a:off x="661475" y="5492651"/>
            <a:ext cx="340213" cy="340221"/>
          </a:xfrm>
          <a:prstGeom prst="roundRect">
            <a:avLst>
              <a:gd name="adj" fmla="val 6667"/>
            </a:avLst>
          </a:prstGeom>
          <a:solidFill>
            <a:srgbClr val="3B3C3E"/>
          </a:solidFill>
          <a:ln/>
        </p:spPr>
      </p:sp>
      <p:sp>
        <p:nvSpPr>
          <p:cNvPr id="16" name="Text 14"/>
          <p:cNvSpPr/>
          <p:nvPr/>
        </p:nvSpPr>
        <p:spPr>
          <a:xfrm>
            <a:off x="718127" y="5520978"/>
            <a:ext cx="226808" cy="283468"/>
          </a:xfrm>
          <a:prstGeom prst="rect">
            <a:avLst/>
          </a:prstGeom>
          <a:noFill/>
          <a:ln/>
        </p:spPr>
        <p:txBody>
          <a:bodyPr wrap="none" lIns="0" tIns="0" rIns="0" bIns="0" rtlCol="0" anchor="ctr"/>
          <a:lstStyle/>
          <a:p>
            <a:pPr marL="0" indent="0" algn="ctr">
              <a:lnSpc>
                <a:spcPct val="100000"/>
              </a:lnSpc>
              <a:buNone/>
            </a:pPr>
            <a:r>
              <a:rPr lang="en-US" sz="1750" b="1" dirty="0">
                <a:solidFill>
                  <a:srgbClr val="C2C4B5"/>
                </a:solidFill>
                <a:latin typeface="Outfit Bold" pitchFamily="34" charset="0"/>
                <a:ea typeface="Outfit Bold" pitchFamily="34" charset="-122"/>
                <a:cs typeface="Outfit Bold" pitchFamily="34" charset="-120"/>
              </a:rPr>
              <a:t>5</a:t>
            </a:r>
            <a:endParaRPr lang="en-US" sz="1750" dirty="0"/>
          </a:p>
        </p:txBody>
      </p:sp>
      <p:sp>
        <p:nvSpPr>
          <p:cNvPr id="17" name="Text 15"/>
          <p:cNvSpPr/>
          <p:nvPr/>
        </p:nvSpPr>
        <p:spPr>
          <a:xfrm>
            <a:off x="1122632" y="5511502"/>
            <a:ext cx="3103088" cy="544314"/>
          </a:xfrm>
          <a:prstGeom prst="rect">
            <a:avLst/>
          </a:prstGeom>
          <a:noFill/>
          <a:ln/>
        </p:spPr>
        <p:txBody>
          <a:bodyPr wrap="square" lIns="0" tIns="0" rIns="0" bIns="0" rtlCol="0" anchor="t">
            <a:normAutofit/>
          </a:bodyPr>
          <a:lstStyle/>
          <a:p>
            <a:pPr marL="0" indent="0" algn="l">
              <a:lnSpc>
                <a:spcPct val="120000"/>
              </a:lnSpc>
              <a:buNone/>
            </a:pPr>
            <a:r>
              <a:rPr lang="en-US" sz="1450" dirty="0">
                <a:solidFill>
                  <a:srgbClr val="C2C4B5"/>
                </a:solidFill>
                <a:latin typeface="Bitter" pitchFamily="34" charset="0"/>
                <a:ea typeface="Bitter" pitchFamily="34" charset="-122"/>
                <a:cs typeface="Bitter" pitchFamily="34" charset="-120"/>
              </a:rPr>
              <a:t>Users can save and manage their favorite properties.</a:t>
            </a:r>
            <a:endParaRPr lang="en-US" sz="1450" dirty="0"/>
          </a:p>
        </p:txBody>
      </p:sp>
      <p:pic>
        <p:nvPicPr>
          <p:cNvPr id="21" name="Picture 20">
            <a:extLst>
              <a:ext uri="{FF2B5EF4-FFF2-40B4-BE49-F238E27FC236}">
                <a16:creationId xmlns:a16="http://schemas.microsoft.com/office/drawing/2014/main" id="{7498ECA0-CCEE-BA2F-B5A6-1FFF5B7AF869}"/>
              </a:ext>
            </a:extLst>
          </p:cNvPr>
          <p:cNvPicPr>
            <a:picLocks noChangeAspect="1"/>
          </p:cNvPicPr>
          <p:nvPr/>
        </p:nvPicPr>
        <p:blipFill>
          <a:blip r:embed="rId3"/>
          <a:stretch>
            <a:fillRect/>
          </a:stretch>
        </p:blipFill>
        <p:spPr>
          <a:xfrm>
            <a:off x="11054964" y="6576036"/>
            <a:ext cx="1074513" cy="281964"/>
          </a:xfrm>
          <a:prstGeom prst="rect">
            <a:avLst/>
          </a:prstGeom>
        </p:spPr>
      </p:pic>
      <p:pic>
        <p:nvPicPr>
          <p:cNvPr id="22" name="Picture 21" descr="Many buildings Images - Free Download on Magnific (formerly Freepik)">
            <a:extLst>
              <a:ext uri="{FF2B5EF4-FFF2-40B4-BE49-F238E27FC236}">
                <a16:creationId xmlns:a16="http://schemas.microsoft.com/office/drawing/2014/main" id="{501E3672-9392-2277-1749-2C5DDFCC01EA}"/>
              </a:ext>
            </a:extLst>
          </p:cNvPr>
          <p:cNvPicPr>
            <a:picLocks noChangeAspect="1"/>
          </p:cNvPicPr>
          <p:nvPr/>
        </p:nvPicPr>
        <p:blipFill>
          <a:blip r:embed="rId4"/>
          <a:stretch>
            <a:fillRect/>
          </a:stretch>
        </p:blipFill>
        <p:spPr>
          <a:xfrm>
            <a:off x="4675798" y="1678335"/>
            <a:ext cx="7029450" cy="39433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97793"/>
            <a:ext cx="10868745" cy="472480"/>
          </a:xfrm>
          <a:prstGeom prst="rect">
            <a:avLst/>
          </a:prstGeom>
          <a:noFill/>
          <a:ln/>
        </p:spPr>
        <p:txBody>
          <a:bodyPr wrap="none" lIns="0" tIns="0" rIns="0" bIns="0" rtlCol="0" anchor="t"/>
          <a:lstStyle/>
          <a:p>
            <a:pPr marL="0" indent="0" algn="l">
              <a:lnSpc>
                <a:spcPct val="104000"/>
              </a:lnSpc>
              <a:buNone/>
            </a:pPr>
            <a:r>
              <a:rPr lang="en-US" sz="2950" b="1" dirty="0">
                <a:solidFill>
                  <a:srgbClr val="E1E5CD"/>
                </a:solidFill>
                <a:latin typeface="Outfit Bold" pitchFamily="34" charset="0"/>
                <a:ea typeface="Outfit Bold" pitchFamily="34" charset="-122"/>
                <a:cs typeface="Outfit Bold" pitchFamily="34" charset="-120"/>
              </a:rPr>
              <a:t>System Modules</a:t>
            </a:r>
            <a:endParaRPr lang="en-US" sz="2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61475" y="1312168"/>
          <a:ext cx="10868746" cy="4935112"/>
        </p:xfrm>
        <a:graphic>
          <a:graphicData uri="http://schemas.openxmlformats.org/drawingml/2006/table">
            <a:tbl>
              <a:tblPr/>
              <a:tblGrid>
                <a:gridCol w="5434373">
                  <a:extLst>
                    <a:ext uri="{9D8B030D-6E8A-4147-A177-3AD203B41FA5}">
                      <a16:colId xmlns:a16="http://schemas.microsoft.com/office/drawing/2014/main" val="20000"/>
                    </a:ext>
                  </a:extLst>
                </a:gridCol>
                <a:gridCol w="5434373">
                  <a:extLst>
                    <a:ext uri="{9D8B030D-6E8A-4147-A177-3AD203B41FA5}">
                      <a16:colId xmlns:a16="http://schemas.microsoft.com/office/drawing/2014/main" val="20001"/>
                    </a:ext>
                  </a:extLst>
                </a:gridCol>
              </a:tblGrid>
              <a:tr h="429904">
                <a:tc>
                  <a:txBody>
                    <a:bodyPr/>
                    <a:lstStyle/>
                    <a:p>
                      <a:pPr marL="0" indent="0">
                        <a:buNone/>
                      </a:pPr>
                      <a:r>
                        <a:rPr lang="en-US" sz="1450" b="1" dirty="0">
                          <a:solidFill>
                            <a:srgbClr val="C2C4B5"/>
                          </a:solidFill>
                          <a:latin typeface="Bitter" pitchFamily="34" charset="0"/>
                          <a:ea typeface="Bitter" pitchFamily="34" charset="-122"/>
                          <a:cs typeface="Bitter" pitchFamily="34" charset="-120"/>
                        </a:rPr>
                        <a:t>Buyer Modules</a:t>
                      </a:r>
                      <a:endParaRPr lang="en-US" sz="14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450" b="1" dirty="0">
                          <a:solidFill>
                            <a:srgbClr val="C2C4B5"/>
                          </a:solidFill>
                          <a:latin typeface="Bitter" pitchFamily="34" charset="0"/>
                          <a:ea typeface="Bitter" pitchFamily="34" charset="-122"/>
                          <a:cs typeface="Bitter" pitchFamily="34" charset="-120"/>
                        </a:rPr>
                        <a:t>Property Management Modules</a:t>
                      </a:r>
                      <a:endParaRPr lang="en-US" sz="1450" dirty="0">
                        <a:latin typeface="Bitter" charset="0"/>
                        <a:ea typeface="Bitter" charset="0"/>
                        <a:cs typeface="Bitter" charset="0"/>
                      </a:endParaRPr>
                    </a:p>
                  </a:txBody>
                  <a:tcPr marL="151215" marR="151215"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0"/>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Dashboard</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Listing Management</a:t>
                      </a:r>
                      <a:endParaRPr lang="en-US" sz="1150" dirty="0">
                        <a:latin typeface="Bitter" charset="0"/>
                        <a:ea typeface="Bitter" charset="0"/>
                        <a:cs typeface="Bitter" charset="0"/>
                      </a:endParaRPr>
                    </a:p>
                  </a:txBody>
                  <a:tcPr marL="151215" marR="151215"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Search</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Information</a:t>
                      </a:r>
                      <a:endParaRPr lang="en-US" sz="1150" dirty="0">
                        <a:latin typeface="Bitter" charset="0"/>
                        <a:ea typeface="Bitter" charset="0"/>
                        <a:cs typeface="Bitter" charset="0"/>
                      </a:endParaRPr>
                    </a:p>
                  </a:txBody>
                  <a:tcPr marL="151215" marR="151215"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Listings</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Images</a:t>
                      </a:r>
                      <a:endParaRPr lang="en-US" sz="1150" dirty="0">
                        <a:latin typeface="Bitter" charset="0"/>
                        <a:ea typeface="Bitter" charset="0"/>
                        <a:cs typeface="Bitter" charset="0"/>
                      </a:endParaRPr>
                    </a:p>
                  </a:txBody>
                  <a:tcPr marL="151215" marR="151215"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Details</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Amenities</a:t>
                      </a:r>
                      <a:endParaRPr lang="en-US" sz="1150" dirty="0">
                        <a:latin typeface="Bitter" charset="0"/>
                        <a:ea typeface="Bitter" charset="0"/>
                        <a:cs typeface="Bitter" charset="0"/>
                      </a:endParaRPr>
                    </a:p>
                  </a:txBody>
                  <a:tcPr marL="151215" marR="151215"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Filtering</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Location</a:t>
                      </a:r>
                      <a:endParaRPr lang="en-US" sz="1150" dirty="0">
                        <a:latin typeface="Bitter" charset="0"/>
                        <a:ea typeface="Bitter" charset="0"/>
                        <a:cs typeface="Bitter" charset="0"/>
                      </a:endParaRPr>
                    </a:p>
                  </a:txBody>
                  <a:tcPr marL="151215" marR="151215"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5"/>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Saved Properties</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Availability</a:t>
                      </a:r>
                      <a:endParaRPr lang="en-US" sz="1150" dirty="0">
                        <a:latin typeface="Bitter" charset="0"/>
                        <a:ea typeface="Bitter" charset="0"/>
                        <a:cs typeface="Bitter" charset="0"/>
                      </a:endParaRPr>
                    </a:p>
                  </a:txBody>
                  <a:tcPr marL="151215" marR="151215"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6"/>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Visit Scheduling</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Visit Management</a:t>
                      </a:r>
                      <a:endParaRPr lang="en-US" sz="1150" dirty="0">
                        <a:latin typeface="Bitter" charset="0"/>
                        <a:ea typeface="Bitter" charset="0"/>
                        <a:cs typeface="Bitter" charset="0"/>
                      </a:endParaRPr>
                    </a:p>
                  </a:txBody>
                  <a:tcPr marL="151215" marR="151215"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7"/>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My Visits</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Buyer Enquiries</a:t>
                      </a:r>
                      <a:endParaRPr lang="en-US" sz="1150" dirty="0">
                        <a:latin typeface="Bitter" charset="0"/>
                        <a:ea typeface="Bitter" charset="0"/>
                        <a:cs typeface="Bitter" charset="0"/>
                      </a:endParaRPr>
                    </a:p>
                  </a:txBody>
                  <a:tcPr marL="151215" marR="151215"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8"/>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Buyer Profile</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Verification</a:t>
                      </a:r>
                      <a:endParaRPr lang="en-US" sz="1150" dirty="0">
                        <a:latin typeface="Bitter" charset="0"/>
                        <a:ea typeface="Bitter" charset="0"/>
                        <a:cs typeface="Bitter" charset="0"/>
                      </a:endParaRPr>
                    </a:p>
                  </a:txBody>
                  <a:tcPr marL="151215" marR="151215"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9"/>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Notifications</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Status</a:t>
                      </a:r>
                      <a:endParaRPr lang="en-US" sz="1150" dirty="0">
                        <a:latin typeface="Bitter" charset="0"/>
                        <a:ea typeface="Bitter" charset="0"/>
                        <a:cs typeface="Bitter" charset="0"/>
                      </a:endParaRPr>
                    </a:p>
                  </a:txBody>
                  <a:tcPr marL="151215" marR="151215"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10"/>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Favorites Management</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Featured Properties</a:t>
                      </a:r>
                      <a:endParaRPr lang="en-US" sz="1150" dirty="0">
                        <a:latin typeface="Bitter" charset="0"/>
                        <a:ea typeface="Bitter" charset="0"/>
                        <a:cs typeface="Bitter" charset="0"/>
                      </a:endParaRPr>
                    </a:p>
                  </a:txBody>
                  <a:tcPr marL="151215" marR="151215"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11"/>
                  </a:ext>
                </a:extLst>
              </a:tr>
              <a:tr h="375434">
                <a:tc>
                  <a:txBody>
                    <a:bodyPr/>
                    <a:lstStyle/>
                    <a:p>
                      <a:pPr marL="0" indent="0">
                        <a:buNone/>
                      </a:pPr>
                      <a:r>
                        <a:rPr lang="en-US" sz="1150" dirty="0">
                          <a:solidFill>
                            <a:srgbClr val="C2C4B5"/>
                          </a:solidFill>
                          <a:latin typeface="Bitter" pitchFamily="34" charset="0"/>
                          <a:ea typeface="Bitter" pitchFamily="34" charset="-122"/>
                          <a:cs typeface="Bitter" pitchFamily="34" charset="-120"/>
                        </a:rPr>
                        <a:t>• Contact Agent</a:t>
                      </a:r>
                      <a:endParaRPr lang="en-US" sz="1150" dirty="0">
                        <a:latin typeface="Bitter" charset="0"/>
                        <a:ea typeface="Bitter" charset="0"/>
                        <a:cs typeface="Bitter" charset="0"/>
                      </a:endParaRPr>
                    </a:p>
                  </a:txBody>
                  <a:tcPr marL="151215" marR="151215"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FFFFF">
                        <a:alpha val="4000"/>
                      </a:srgbClr>
                    </a:solidFill>
                  </a:tcPr>
                </a:tc>
                <a:tc>
                  <a:txBody>
                    <a:bodyPr/>
                    <a:lstStyle/>
                    <a:p>
                      <a:pPr marL="0" indent="0">
                        <a:buNone/>
                      </a:pPr>
                      <a:r>
                        <a:rPr lang="en-US" sz="1150" dirty="0">
                          <a:solidFill>
                            <a:srgbClr val="C2C4B5"/>
                          </a:solidFill>
                          <a:latin typeface="Bitter" pitchFamily="34" charset="0"/>
                          <a:ea typeface="Bitter" pitchFamily="34" charset="-122"/>
                          <a:cs typeface="Bitter" pitchFamily="34" charset="-120"/>
                        </a:rPr>
                        <a:t>• Property Updates</a:t>
                      </a:r>
                      <a:endParaRPr lang="en-US" sz="1150" dirty="0">
                        <a:latin typeface="Bitter" charset="0"/>
                        <a:ea typeface="Bitter" charset="0"/>
                        <a:cs typeface="Bitter" charset="0"/>
                      </a:endParaRPr>
                    </a:p>
                  </a:txBody>
                  <a:tcPr marL="151215" marR="151215"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12"/>
                  </a:ext>
                </a:extLst>
              </a:tr>
            </a:tbl>
          </a:graphicData>
        </a:graphic>
      </p:graphicFrame>
      <p:pic>
        <p:nvPicPr>
          <p:cNvPr id="4" name="Picture 3">
            <a:extLst>
              <a:ext uri="{FF2B5EF4-FFF2-40B4-BE49-F238E27FC236}">
                <a16:creationId xmlns:a16="http://schemas.microsoft.com/office/drawing/2014/main" id="{FBD18D47-FEC9-7A3D-CAA5-60D446E1CB77}"/>
              </a:ext>
            </a:extLst>
          </p:cNvPr>
          <p:cNvPicPr>
            <a:picLocks noChangeAspect="1"/>
          </p:cNvPicPr>
          <p:nvPr/>
        </p:nvPicPr>
        <p:blipFill>
          <a:blip r:embed="rId3"/>
          <a:stretch>
            <a:fillRect/>
          </a:stretch>
        </p:blipFill>
        <p:spPr>
          <a:xfrm>
            <a:off x="11054964" y="6576036"/>
            <a:ext cx="1074513" cy="28196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65956"/>
            <a:ext cx="10868745" cy="443012"/>
          </a:xfrm>
          <a:prstGeom prst="rect">
            <a:avLst/>
          </a:prstGeom>
          <a:noFill/>
          <a:ln/>
        </p:spPr>
        <p:txBody>
          <a:bodyPr wrap="none" lIns="0" tIns="0" rIns="0" bIns="0" rtlCol="0" anchor="t"/>
          <a:lstStyle/>
          <a:p>
            <a:pPr marL="0" indent="0" algn="l">
              <a:lnSpc>
                <a:spcPct val="104000"/>
              </a:lnSpc>
              <a:buNone/>
            </a:pPr>
            <a:r>
              <a:rPr lang="en-US" sz="2750" b="1" dirty="0">
                <a:solidFill>
                  <a:srgbClr val="E1E5CD"/>
                </a:solidFill>
                <a:latin typeface="Outfit Bold" pitchFamily="34" charset="0"/>
                <a:ea typeface="Outfit Bold" pitchFamily="34" charset="-122"/>
                <a:cs typeface="Outfit Bold" pitchFamily="34" charset="-120"/>
              </a:rPr>
              <a:t>Frontend Implementation - Screenshots</a:t>
            </a:r>
            <a:endParaRPr lang="en-US" sz="2750" dirty="0"/>
          </a:p>
        </p:txBody>
      </p:sp>
      <p:pic>
        <p:nvPicPr>
          <p:cNvPr id="3" name="Image 0" descr="preencoded.png"/>
          <p:cNvPicPr>
            <a:picLocks noChangeAspect="1"/>
          </p:cNvPicPr>
          <p:nvPr/>
        </p:nvPicPr>
        <p:blipFill>
          <a:blip r:embed="rId3"/>
          <a:stretch>
            <a:fillRect/>
          </a:stretch>
        </p:blipFill>
        <p:spPr>
          <a:xfrm>
            <a:off x="661475" y="1387971"/>
            <a:ext cx="3733111" cy="1795463"/>
          </a:xfrm>
          <a:prstGeom prst="rect">
            <a:avLst/>
          </a:prstGeom>
        </p:spPr>
      </p:pic>
      <p:pic>
        <p:nvPicPr>
          <p:cNvPr id="4" name="Image 1" descr="preencoded.png"/>
          <p:cNvPicPr>
            <a:picLocks noChangeAspect="1"/>
          </p:cNvPicPr>
          <p:nvPr/>
        </p:nvPicPr>
        <p:blipFill>
          <a:blip r:embed="rId4"/>
          <a:stretch>
            <a:fillRect/>
          </a:stretch>
        </p:blipFill>
        <p:spPr>
          <a:xfrm>
            <a:off x="6050803" y="1387971"/>
            <a:ext cx="3488940" cy="1789708"/>
          </a:xfrm>
          <a:prstGeom prst="rect">
            <a:avLst/>
          </a:prstGeom>
        </p:spPr>
      </p:pic>
      <p:pic>
        <p:nvPicPr>
          <p:cNvPr id="5" name="Image 2" descr="preencoded.png"/>
          <p:cNvPicPr>
            <a:picLocks noChangeAspect="1"/>
          </p:cNvPicPr>
          <p:nvPr/>
        </p:nvPicPr>
        <p:blipFill>
          <a:blip r:embed="rId5"/>
          <a:stretch>
            <a:fillRect/>
          </a:stretch>
        </p:blipFill>
        <p:spPr>
          <a:xfrm>
            <a:off x="661475" y="3830439"/>
            <a:ext cx="3770516" cy="1918990"/>
          </a:xfrm>
          <a:prstGeom prst="rect">
            <a:avLst/>
          </a:prstGeom>
        </p:spPr>
      </p:pic>
      <p:pic>
        <p:nvPicPr>
          <p:cNvPr id="6" name="Image 3" descr="preencoded.png"/>
          <p:cNvPicPr>
            <a:picLocks noChangeAspect="1"/>
          </p:cNvPicPr>
          <p:nvPr/>
        </p:nvPicPr>
        <p:blipFill>
          <a:blip r:embed="rId6"/>
          <a:stretch>
            <a:fillRect/>
          </a:stretch>
        </p:blipFill>
        <p:spPr>
          <a:xfrm>
            <a:off x="6050803" y="3830439"/>
            <a:ext cx="3843341" cy="1947962"/>
          </a:xfrm>
          <a:prstGeom prst="rect">
            <a:avLst/>
          </a:prstGeom>
        </p:spPr>
      </p:pic>
      <p:pic>
        <p:nvPicPr>
          <p:cNvPr id="8" name="Picture 7">
            <a:extLst>
              <a:ext uri="{FF2B5EF4-FFF2-40B4-BE49-F238E27FC236}">
                <a16:creationId xmlns:a16="http://schemas.microsoft.com/office/drawing/2014/main" id="{E74CD877-B945-2DA4-F5F9-CF82A2368EA5}"/>
              </a:ext>
            </a:extLst>
          </p:cNvPr>
          <p:cNvPicPr>
            <a:picLocks noChangeAspect="1"/>
          </p:cNvPicPr>
          <p:nvPr/>
        </p:nvPicPr>
        <p:blipFill>
          <a:blip r:embed="rId7"/>
          <a:stretch>
            <a:fillRect/>
          </a:stretch>
        </p:blipFill>
        <p:spPr>
          <a:xfrm>
            <a:off x="11054964" y="6576036"/>
            <a:ext cx="1074513" cy="28196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54038"/>
            <a:ext cx="10868745" cy="523379"/>
          </a:xfrm>
          <a:prstGeom prst="rect">
            <a:avLst/>
          </a:prstGeom>
          <a:noFill/>
          <a:ln/>
        </p:spPr>
        <p:txBody>
          <a:bodyPr wrap="none" lIns="0" tIns="0" rIns="0" bIns="0" rtlCol="0" anchor="t"/>
          <a:lstStyle/>
          <a:p>
            <a:pPr marL="0" indent="0" algn="l">
              <a:lnSpc>
                <a:spcPct val="104000"/>
              </a:lnSpc>
              <a:buNone/>
            </a:pPr>
            <a:r>
              <a:rPr lang="en-US" sz="3250" b="1" dirty="0">
                <a:solidFill>
                  <a:srgbClr val="E1E5CD"/>
                </a:solidFill>
                <a:latin typeface="Outfit Bold" pitchFamily="34" charset="0"/>
                <a:ea typeface="Outfit Bold" pitchFamily="34" charset="-122"/>
                <a:cs typeface="Outfit Bold" pitchFamily="34" charset="-120"/>
              </a:rPr>
              <a:t>ER Diagrams</a:t>
            </a:r>
            <a:endParaRPr lang="en-US" sz="3250" dirty="0"/>
          </a:p>
        </p:txBody>
      </p:sp>
      <p:pic>
        <p:nvPicPr>
          <p:cNvPr id="3" name="Image 0" descr="preencoded.png"/>
          <p:cNvPicPr>
            <a:picLocks noChangeAspect="1"/>
          </p:cNvPicPr>
          <p:nvPr/>
        </p:nvPicPr>
        <p:blipFill>
          <a:blip r:embed="rId3"/>
          <a:stretch>
            <a:fillRect/>
          </a:stretch>
        </p:blipFill>
        <p:spPr>
          <a:xfrm>
            <a:off x="661475" y="1466751"/>
            <a:ext cx="6229393" cy="4151313"/>
          </a:xfrm>
          <a:prstGeom prst="rect">
            <a:avLst/>
          </a:prstGeom>
        </p:spPr>
      </p:pic>
      <p:sp>
        <p:nvSpPr>
          <p:cNvPr id="4" name="Text 1"/>
          <p:cNvSpPr/>
          <p:nvPr/>
        </p:nvSpPr>
        <p:spPr>
          <a:xfrm>
            <a:off x="7998022" y="1433314"/>
            <a:ext cx="3538449" cy="4737199"/>
          </a:xfrm>
          <a:prstGeom prst="rect">
            <a:avLst/>
          </a:prstGeom>
          <a:noFill/>
          <a:ln/>
        </p:spPr>
        <p:txBody>
          <a:bodyPr wrap="square" lIns="0" tIns="0" rIns="0" bIns="0" rtlCol="0" anchor="t">
            <a:normAutofit/>
          </a:bodyPr>
          <a:lstStyle/>
          <a:p>
            <a:pPr marL="0" indent="0" algn="l">
              <a:lnSpc>
                <a:spcPct val="126000"/>
              </a:lnSpc>
              <a:buNone/>
            </a:pPr>
            <a:r>
              <a:rPr lang="en-US" sz="1600" dirty="0">
                <a:solidFill>
                  <a:srgbClr val="C2C4B5"/>
                </a:solidFill>
                <a:latin typeface="Bitter" pitchFamily="34" charset="0"/>
                <a:ea typeface="Bitter" pitchFamily="34" charset="-122"/>
                <a:cs typeface="Bitter" pitchFamily="34" charset="-120"/>
              </a:rPr>
              <a:t>The ER diagram of EstateLy represents the main entities involved in the buyer self-service real estate system. The Buyer entity interacts with Property through Saved Property and Property Visit entities. Saved Property records the properties bookmarked by buyers, while Property Visit records scheduled visits. The Agent entity represents property consultants who manage properties. Primary and foreign keys establish the relationships between these entities.</a:t>
            </a:r>
            <a:endParaRPr lang="en-US" sz="1600" dirty="0"/>
          </a:p>
        </p:txBody>
      </p:sp>
      <p:pic>
        <p:nvPicPr>
          <p:cNvPr id="6" name="Picture 5">
            <a:extLst>
              <a:ext uri="{FF2B5EF4-FFF2-40B4-BE49-F238E27FC236}">
                <a16:creationId xmlns:a16="http://schemas.microsoft.com/office/drawing/2014/main" id="{202FF2D2-D12C-FBBF-B496-D6CB90F7E48F}"/>
              </a:ext>
            </a:extLst>
          </p:cNvPr>
          <p:cNvPicPr>
            <a:picLocks noChangeAspect="1"/>
          </p:cNvPicPr>
          <p:nvPr/>
        </p:nvPicPr>
        <p:blipFill>
          <a:blip r:embed="rId4"/>
          <a:stretch>
            <a:fillRect/>
          </a:stretch>
        </p:blipFill>
        <p:spPr>
          <a:xfrm>
            <a:off x="11054964" y="6576036"/>
            <a:ext cx="1074513" cy="2819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670123"/>
            <a:ext cx="10868745" cy="413445"/>
          </a:xfrm>
          <a:prstGeom prst="rect">
            <a:avLst/>
          </a:prstGeom>
          <a:noFill/>
          <a:ln/>
        </p:spPr>
        <p:txBody>
          <a:bodyPr wrap="none" lIns="0" tIns="0" rIns="0" bIns="0" rtlCol="0" anchor="t"/>
          <a:lstStyle/>
          <a:p>
            <a:pPr marL="0" indent="0" algn="l">
              <a:lnSpc>
                <a:spcPct val="104000"/>
              </a:lnSpc>
              <a:buNone/>
            </a:pPr>
            <a:r>
              <a:rPr lang="en-US" sz="2600" b="1" dirty="0">
                <a:solidFill>
                  <a:srgbClr val="E1E5CD"/>
                </a:solidFill>
                <a:latin typeface="Outfit Bold" pitchFamily="34" charset="0"/>
                <a:ea typeface="Outfit Bold" pitchFamily="34" charset="-122"/>
                <a:cs typeface="Outfit Bold" pitchFamily="34" charset="-120"/>
              </a:rPr>
              <a:t>Database Design &amp; Schema</a:t>
            </a:r>
            <a:endParaRPr lang="en-US" sz="2600" dirty="0"/>
          </a:p>
        </p:txBody>
      </p:sp>
      <p:pic>
        <p:nvPicPr>
          <p:cNvPr id="4"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1771" y="1330722"/>
            <a:ext cx="198433" cy="198438"/>
          </a:xfrm>
          <a:prstGeom prst="rect">
            <a:avLst/>
          </a:prstGeom>
        </p:spPr>
      </p:pic>
      <p:sp>
        <p:nvSpPr>
          <p:cNvPr id="5" name="Text 1"/>
          <p:cNvSpPr/>
          <p:nvPr/>
        </p:nvSpPr>
        <p:spPr>
          <a:xfrm>
            <a:off x="8372067" y="1326654"/>
            <a:ext cx="3164404" cy="206673"/>
          </a:xfrm>
          <a:prstGeom prst="rect">
            <a:avLst/>
          </a:prstGeom>
          <a:noFill/>
          <a:ln/>
        </p:spPr>
        <p:txBody>
          <a:bodyPr wrap="none" lIns="0" tIns="0" rIns="0" bIns="0" rtlCol="0" anchor="t"/>
          <a:lstStyle/>
          <a:p>
            <a:pPr marL="0" indent="0" algn="l">
              <a:lnSpc>
                <a:spcPct val="104000"/>
              </a:lnSpc>
              <a:buNone/>
            </a:pPr>
            <a:r>
              <a:rPr lang="en-US" sz="1300" b="1" dirty="0">
                <a:solidFill>
                  <a:srgbClr val="C2C4B5"/>
                </a:solidFill>
                <a:latin typeface="Outfit Bold" pitchFamily="34" charset="0"/>
                <a:ea typeface="Outfit Bold" pitchFamily="34" charset="-122"/>
                <a:cs typeface="Outfit Bold" pitchFamily="34" charset="-120"/>
              </a:rPr>
              <a:t>User Table</a:t>
            </a:r>
            <a:endParaRPr lang="en-US" sz="1300" dirty="0"/>
          </a:p>
        </p:txBody>
      </p:sp>
      <p:sp>
        <p:nvSpPr>
          <p:cNvPr id="6" name="Text 2"/>
          <p:cNvSpPr/>
          <p:nvPr/>
        </p:nvSpPr>
        <p:spPr>
          <a:xfrm>
            <a:off x="8372067" y="1625898"/>
            <a:ext cx="3164404" cy="539948"/>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C2C4B5"/>
                </a:solidFill>
                <a:latin typeface="Bitter" pitchFamily="34" charset="0"/>
                <a:ea typeface="Bitter" pitchFamily="34" charset="-122"/>
                <a:cs typeface="Bitter" pitchFamily="34" charset="-120"/>
              </a:rPr>
              <a:t>Stores buyer details such as User ID, Name, Email, Phone Number, and Password for managing user profiles.</a:t>
            </a:r>
            <a:endParaRPr lang="en-US" sz="1000" dirty="0"/>
          </a:p>
        </p:txBody>
      </p:sp>
      <p:pic>
        <p:nvPicPr>
          <p:cNvPr id="7"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1771" y="2355155"/>
            <a:ext cx="198433" cy="198438"/>
          </a:xfrm>
          <a:prstGeom prst="rect">
            <a:avLst/>
          </a:prstGeom>
        </p:spPr>
      </p:pic>
      <p:sp>
        <p:nvSpPr>
          <p:cNvPr id="8" name="Text 3"/>
          <p:cNvSpPr/>
          <p:nvPr/>
        </p:nvSpPr>
        <p:spPr>
          <a:xfrm>
            <a:off x="8372067" y="2351088"/>
            <a:ext cx="3164404" cy="206673"/>
          </a:xfrm>
          <a:prstGeom prst="rect">
            <a:avLst/>
          </a:prstGeom>
          <a:noFill/>
          <a:ln/>
        </p:spPr>
        <p:txBody>
          <a:bodyPr wrap="none" lIns="0" tIns="0" rIns="0" bIns="0" rtlCol="0" anchor="t"/>
          <a:lstStyle/>
          <a:p>
            <a:pPr marL="0" indent="0" algn="l">
              <a:lnSpc>
                <a:spcPct val="104000"/>
              </a:lnSpc>
              <a:buNone/>
            </a:pPr>
            <a:r>
              <a:rPr lang="en-US" sz="1300" b="1" dirty="0">
                <a:solidFill>
                  <a:srgbClr val="C2C4B5"/>
                </a:solidFill>
                <a:latin typeface="Outfit Bold" pitchFamily="34" charset="0"/>
                <a:ea typeface="Outfit Bold" pitchFamily="34" charset="-122"/>
                <a:cs typeface="Outfit Bold" pitchFamily="34" charset="-120"/>
              </a:rPr>
              <a:t>Property Table</a:t>
            </a:r>
            <a:endParaRPr lang="en-US" sz="1300" dirty="0"/>
          </a:p>
        </p:txBody>
      </p:sp>
      <p:sp>
        <p:nvSpPr>
          <p:cNvPr id="9" name="Text 4"/>
          <p:cNvSpPr/>
          <p:nvPr/>
        </p:nvSpPr>
        <p:spPr>
          <a:xfrm>
            <a:off x="8372067" y="2650331"/>
            <a:ext cx="3164404" cy="539948"/>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C2C4B5"/>
                </a:solidFill>
                <a:latin typeface="Bitter" pitchFamily="34" charset="0"/>
                <a:ea typeface="Bitter" pitchFamily="34" charset="-122"/>
                <a:cs typeface="Bitter" pitchFamily="34" charset="-120"/>
              </a:rPr>
              <a:t>Stores property information including Property ID, Title, Location, Price, Property Type, Bedrooms, Bathrooms, Area, and Image.</a:t>
            </a:r>
            <a:endParaRPr lang="en-US" sz="10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1771" y="3379589"/>
            <a:ext cx="198433" cy="198438"/>
          </a:xfrm>
          <a:prstGeom prst="rect">
            <a:avLst/>
          </a:prstGeom>
        </p:spPr>
      </p:pic>
      <p:sp>
        <p:nvSpPr>
          <p:cNvPr id="11" name="Text 5"/>
          <p:cNvSpPr/>
          <p:nvPr/>
        </p:nvSpPr>
        <p:spPr>
          <a:xfrm>
            <a:off x="8372067" y="3375521"/>
            <a:ext cx="3164404" cy="206673"/>
          </a:xfrm>
          <a:prstGeom prst="rect">
            <a:avLst/>
          </a:prstGeom>
          <a:noFill/>
          <a:ln/>
        </p:spPr>
        <p:txBody>
          <a:bodyPr wrap="none" lIns="0" tIns="0" rIns="0" bIns="0" rtlCol="0" anchor="t"/>
          <a:lstStyle/>
          <a:p>
            <a:pPr marL="0" indent="0" algn="l">
              <a:lnSpc>
                <a:spcPct val="104000"/>
              </a:lnSpc>
              <a:buNone/>
            </a:pPr>
            <a:r>
              <a:rPr lang="en-US" sz="1300" b="1" dirty="0">
                <a:solidFill>
                  <a:srgbClr val="C2C4B5"/>
                </a:solidFill>
                <a:latin typeface="Outfit Bold" pitchFamily="34" charset="0"/>
                <a:ea typeface="Outfit Bold" pitchFamily="34" charset="-122"/>
                <a:cs typeface="Outfit Bold" pitchFamily="34" charset="-120"/>
              </a:rPr>
              <a:t>Favorites Table</a:t>
            </a:r>
            <a:endParaRPr lang="en-US" sz="1300" dirty="0"/>
          </a:p>
        </p:txBody>
      </p:sp>
      <p:sp>
        <p:nvSpPr>
          <p:cNvPr id="12" name="Text 6"/>
          <p:cNvSpPr/>
          <p:nvPr/>
        </p:nvSpPr>
        <p:spPr>
          <a:xfrm>
            <a:off x="8372067" y="3674765"/>
            <a:ext cx="3164404" cy="359966"/>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C2C4B5"/>
                </a:solidFill>
                <a:latin typeface="Bitter" pitchFamily="34" charset="0"/>
                <a:ea typeface="Bitter" pitchFamily="34" charset="-122"/>
                <a:cs typeface="Bitter" pitchFamily="34" charset="-120"/>
              </a:rPr>
              <a:t>Maintains the properties saved by buyers, containing Favorite ID, User ID, and Property ID.</a:t>
            </a:r>
            <a:endParaRPr lang="en-US" sz="1000" dirty="0"/>
          </a:p>
        </p:txBody>
      </p:sp>
      <p:pic>
        <p:nvPicPr>
          <p:cNvPr id="13"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1771" y="4224040"/>
            <a:ext cx="198433" cy="198438"/>
          </a:xfrm>
          <a:prstGeom prst="rect">
            <a:avLst/>
          </a:prstGeom>
        </p:spPr>
      </p:pic>
      <p:sp>
        <p:nvSpPr>
          <p:cNvPr id="14" name="Text 7"/>
          <p:cNvSpPr/>
          <p:nvPr/>
        </p:nvSpPr>
        <p:spPr>
          <a:xfrm>
            <a:off x="8372067" y="4219972"/>
            <a:ext cx="3164404" cy="206673"/>
          </a:xfrm>
          <a:prstGeom prst="rect">
            <a:avLst/>
          </a:prstGeom>
          <a:noFill/>
          <a:ln/>
        </p:spPr>
        <p:txBody>
          <a:bodyPr wrap="none" lIns="0" tIns="0" rIns="0" bIns="0" rtlCol="0" anchor="t"/>
          <a:lstStyle/>
          <a:p>
            <a:pPr marL="0" indent="0" algn="l">
              <a:lnSpc>
                <a:spcPct val="104000"/>
              </a:lnSpc>
              <a:buNone/>
            </a:pPr>
            <a:r>
              <a:rPr lang="en-US" sz="1300" b="1" dirty="0">
                <a:solidFill>
                  <a:srgbClr val="C2C4B5"/>
                </a:solidFill>
                <a:latin typeface="Outfit Bold" pitchFamily="34" charset="0"/>
                <a:ea typeface="Outfit Bold" pitchFamily="34" charset="-122"/>
                <a:cs typeface="Outfit Bold" pitchFamily="34" charset="-120"/>
              </a:rPr>
              <a:t>Visit Table</a:t>
            </a:r>
            <a:endParaRPr lang="en-US" sz="1300" dirty="0"/>
          </a:p>
        </p:txBody>
      </p:sp>
      <p:sp>
        <p:nvSpPr>
          <p:cNvPr id="15" name="Text 8"/>
          <p:cNvSpPr/>
          <p:nvPr/>
        </p:nvSpPr>
        <p:spPr>
          <a:xfrm>
            <a:off x="8372067" y="4519216"/>
            <a:ext cx="3164404" cy="359966"/>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C2C4B5"/>
                </a:solidFill>
                <a:latin typeface="Bitter" pitchFamily="34" charset="0"/>
                <a:ea typeface="Bitter" pitchFamily="34" charset="-122"/>
                <a:cs typeface="Bitter" pitchFamily="34" charset="-120"/>
              </a:rPr>
              <a:t>Stores property visit details such as Visit ID, User ID, Property ID, Visit Date, Visit Time, and Visit Status.</a:t>
            </a:r>
            <a:endParaRPr lang="en-US" sz="1000" dirty="0"/>
          </a:p>
        </p:txBody>
      </p:sp>
      <p:pic>
        <p:nvPicPr>
          <p:cNvPr id="16"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991771" y="5068491"/>
            <a:ext cx="198433" cy="198438"/>
          </a:xfrm>
          <a:prstGeom prst="rect">
            <a:avLst/>
          </a:prstGeom>
        </p:spPr>
      </p:pic>
      <p:sp>
        <p:nvSpPr>
          <p:cNvPr id="17" name="Text 9"/>
          <p:cNvSpPr/>
          <p:nvPr/>
        </p:nvSpPr>
        <p:spPr>
          <a:xfrm>
            <a:off x="8372067" y="5064423"/>
            <a:ext cx="3164404" cy="206673"/>
          </a:xfrm>
          <a:prstGeom prst="rect">
            <a:avLst/>
          </a:prstGeom>
          <a:noFill/>
          <a:ln/>
        </p:spPr>
        <p:txBody>
          <a:bodyPr wrap="none" lIns="0" tIns="0" rIns="0" bIns="0" rtlCol="0" anchor="t"/>
          <a:lstStyle/>
          <a:p>
            <a:pPr marL="0" indent="0" algn="l">
              <a:lnSpc>
                <a:spcPct val="104000"/>
              </a:lnSpc>
              <a:buNone/>
            </a:pPr>
            <a:r>
              <a:rPr lang="en-US" sz="1300" b="1" dirty="0">
                <a:solidFill>
                  <a:srgbClr val="C2C4B5"/>
                </a:solidFill>
                <a:latin typeface="Outfit Bold" pitchFamily="34" charset="0"/>
                <a:ea typeface="Outfit Bold" pitchFamily="34" charset="-122"/>
                <a:cs typeface="Outfit Bold" pitchFamily="34" charset="-120"/>
              </a:rPr>
              <a:t>Relationships</a:t>
            </a:r>
            <a:endParaRPr lang="en-US" sz="1300" dirty="0"/>
          </a:p>
        </p:txBody>
      </p:sp>
      <p:sp>
        <p:nvSpPr>
          <p:cNvPr id="18" name="Text 10"/>
          <p:cNvSpPr/>
          <p:nvPr/>
        </p:nvSpPr>
        <p:spPr>
          <a:xfrm>
            <a:off x="8372067" y="5363666"/>
            <a:ext cx="3164404" cy="719931"/>
          </a:xfrm>
          <a:prstGeom prst="rect">
            <a:avLst/>
          </a:prstGeom>
          <a:noFill/>
          <a:ln/>
        </p:spPr>
        <p:txBody>
          <a:bodyPr wrap="square" lIns="0" tIns="0" rIns="0" bIns="0" rtlCol="0" anchor="t">
            <a:normAutofit/>
          </a:bodyPr>
          <a:lstStyle/>
          <a:p>
            <a:pPr marL="0" indent="0" algn="l">
              <a:lnSpc>
                <a:spcPct val="113000"/>
              </a:lnSpc>
              <a:buNone/>
            </a:pPr>
            <a:r>
              <a:rPr lang="en-US" sz="1000" dirty="0">
                <a:solidFill>
                  <a:srgbClr val="C2C4B5"/>
                </a:solidFill>
                <a:latin typeface="Bitter" pitchFamily="34" charset="0"/>
                <a:ea typeface="Bitter" pitchFamily="34" charset="-122"/>
                <a:cs typeface="Bitter" pitchFamily="34" charset="-120"/>
              </a:rPr>
              <a:t>A user can save multiple properties and schedule multiple visits. Each property can be saved or visited by multiple users, creating relationships between </a:t>
            </a:r>
            <a:r>
              <a:rPr lang="en-US" sz="1000" b="1" dirty="0">
                <a:solidFill>
                  <a:srgbClr val="C2C4B5"/>
                </a:solidFill>
                <a:latin typeface="Bitter Bold" pitchFamily="34" charset="0"/>
                <a:ea typeface="Bitter Bold" pitchFamily="34" charset="-122"/>
                <a:cs typeface="Bitter Bold" pitchFamily="34" charset="-120"/>
              </a:rPr>
              <a:t>User, Property, Favorites, and Visits</a:t>
            </a:r>
            <a:r>
              <a:rPr lang="en-US" sz="1000" dirty="0">
                <a:solidFill>
                  <a:srgbClr val="C2C4B5"/>
                </a:solidFill>
                <a:latin typeface="Bitter" pitchFamily="34" charset="0"/>
                <a:ea typeface="Bitter" pitchFamily="34" charset="-122"/>
                <a:cs typeface="Bitter" pitchFamily="34" charset="-120"/>
              </a:rPr>
              <a:t>.</a:t>
            </a:r>
            <a:endParaRPr lang="en-US" sz="1000" dirty="0"/>
          </a:p>
        </p:txBody>
      </p:sp>
      <p:pic>
        <p:nvPicPr>
          <p:cNvPr id="20" name="Picture 19">
            <a:extLst>
              <a:ext uri="{FF2B5EF4-FFF2-40B4-BE49-F238E27FC236}">
                <a16:creationId xmlns:a16="http://schemas.microsoft.com/office/drawing/2014/main" id="{AFF93540-7317-8EC6-7FDA-ED50DF4E3967}"/>
              </a:ext>
            </a:extLst>
          </p:cNvPr>
          <p:cNvPicPr>
            <a:picLocks noChangeAspect="1"/>
          </p:cNvPicPr>
          <p:nvPr/>
        </p:nvPicPr>
        <p:blipFill>
          <a:blip r:embed="rId4"/>
          <a:stretch>
            <a:fillRect/>
          </a:stretch>
        </p:blipFill>
        <p:spPr>
          <a:xfrm>
            <a:off x="11054964" y="6576036"/>
            <a:ext cx="1074513" cy="281964"/>
          </a:xfrm>
          <a:prstGeom prst="rect">
            <a:avLst/>
          </a:prstGeom>
        </p:spPr>
      </p:pic>
      <p:pic>
        <p:nvPicPr>
          <p:cNvPr id="21" name="Picture 20" descr="Tall Building Design and Construction - Structural Guide">
            <a:extLst>
              <a:ext uri="{FF2B5EF4-FFF2-40B4-BE49-F238E27FC236}">
                <a16:creationId xmlns:a16="http://schemas.microsoft.com/office/drawing/2014/main" id="{3B61A434-DE24-96C0-F3CD-2E4DCE7889E9}"/>
              </a:ext>
            </a:extLst>
          </p:cNvPr>
          <p:cNvPicPr>
            <a:picLocks noChangeAspect="1"/>
          </p:cNvPicPr>
          <p:nvPr/>
        </p:nvPicPr>
        <p:blipFill>
          <a:blip r:embed="rId5"/>
          <a:stretch>
            <a:fillRect/>
          </a:stretch>
        </p:blipFill>
        <p:spPr>
          <a:xfrm>
            <a:off x="655529" y="1881843"/>
            <a:ext cx="7029450" cy="3943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659408"/>
            <a:ext cx="10868745" cy="443012"/>
          </a:xfrm>
          <a:prstGeom prst="rect">
            <a:avLst/>
          </a:prstGeom>
          <a:noFill/>
          <a:ln/>
        </p:spPr>
        <p:txBody>
          <a:bodyPr wrap="none" lIns="0" tIns="0" rIns="0" bIns="0" rtlCol="0" anchor="t"/>
          <a:lstStyle/>
          <a:p>
            <a:pPr marL="0" indent="0" algn="l">
              <a:lnSpc>
                <a:spcPct val="104000"/>
              </a:lnSpc>
              <a:buNone/>
            </a:pPr>
            <a:r>
              <a:rPr lang="en-US" sz="2750" b="1" dirty="0">
                <a:solidFill>
                  <a:srgbClr val="E1E5CD"/>
                </a:solidFill>
                <a:latin typeface="Outfit Bold" pitchFamily="34" charset="0"/>
                <a:ea typeface="Outfit Bold" pitchFamily="34" charset="-122"/>
                <a:cs typeface="Outfit Bold" pitchFamily="34" charset="-120"/>
              </a:rPr>
              <a:t>Database Tables / Schema</a:t>
            </a:r>
            <a:endParaRPr lang="en-US" sz="27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1475" y="1315045"/>
          <a:ext cx="10868744" cy="4870723"/>
        </p:xfrm>
        <a:graphic>
          <a:graphicData uri="http://schemas.openxmlformats.org/drawingml/2006/table">
            <a:tbl>
              <a:tblPr/>
              <a:tblGrid>
                <a:gridCol w="2717186">
                  <a:extLst>
                    <a:ext uri="{9D8B030D-6E8A-4147-A177-3AD203B41FA5}">
                      <a16:colId xmlns:a16="http://schemas.microsoft.com/office/drawing/2014/main" val="20000"/>
                    </a:ext>
                  </a:extLst>
                </a:gridCol>
                <a:gridCol w="2717186">
                  <a:extLst>
                    <a:ext uri="{9D8B030D-6E8A-4147-A177-3AD203B41FA5}">
                      <a16:colId xmlns:a16="http://schemas.microsoft.com/office/drawing/2014/main" val="20001"/>
                    </a:ext>
                  </a:extLst>
                </a:gridCol>
                <a:gridCol w="2717186">
                  <a:extLst>
                    <a:ext uri="{9D8B030D-6E8A-4147-A177-3AD203B41FA5}">
                      <a16:colId xmlns:a16="http://schemas.microsoft.com/office/drawing/2014/main" val="20002"/>
                    </a:ext>
                  </a:extLst>
                </a:gridCol>
                <a:gridCol w="2717186">
                  <a:extLst>
                    <a:ext uri="{9D8B030D-6E8A-4147-A177-3AD203B41FA5}">
                      <a16:colId xmlns:a16="http://schemas.microsoft.com/office/drawing/2014/main" val="20003"/>
                    </a:ext>
                  </a:extLst>
                </a:gridCol>
              </a:tblGrid>
              <a:tr h="338526">
                <a:tc>
                  <a:txBody>
                    <a:bodyPr/>
                    <a:lstStyle/>
                    <a:p>
                      <a:pPr marL="0" indent="0">
                        <a:buNone/>
                      </a:pPr>
                      <a:r>
                        <a:rPr lang="en-US" sz="1100" b="1" dirty="0">
                          <a:solidFill>
                            <a:srgbClr val="272525"/>
                          </a:solidFill>
                          <a:latin typeface="Bitter" pitchFamily="34" charset="0"/>
                          <a:ea typeface="Bitter" pitchFamily="34" charset="-122"/>
                          <a:cs typeface="Bitter" pitchFamily="34" charset="-120"/>
                        </a:rPr>
                        <a:t>Table Name</a:t>
                      </a:r>
                      <a:endParaRPr lang="en-US" sz="1100" dirty="0">
                        <a:latin typeface="Bitter" charset="0"/>
                        <a:ea typeface="Bitter" charset="0"/>
                        <a:cs typeface="Bitter" charset="0"/>
                      </a:endParaRPr>
                    </a:p>
                  </a:txBody>
                  <a:tcPr marL="141764" marR="141764" marT="6350" marB="6350" anchor="ctr">
                    <a:lnL w="12700" cap="flat" cmpd="sng" algn="ctr">
                      <a:solidFill>
                        <a:srgbClr val="525355"/>
                      </a:solidFill>
                      <a:prstDash val="solid"/>
                      <a:round/>
                      <a:headEnd type="none" w="med" len="med"/>
                      <a:tailEnd type="none" w="med" len="med"/>
                    </a:lnL>
                    <a:lnR w="12700" cap="flat" cmpd="sng" algn="ctr">
                      <a:solidFill>
                        <a:srgbClr val="FFD1A7"/>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FFD1A7"/>
                      </a:solidFill>
                      <a:prstDash val="solid"/>
                      <a:round/>
                      <a:headEnd type="none" w="med" len="med"/>
                      <a:tailEnd type="none" w="med" len="med"/>
                    </a:lnB>
                    <a:solidFill>
                      <a:srgbClr val="FFD1A7"/>
                    </a:solidFill>
                  </a:tcPr>
                </a:tc>
                <a:tc>
                  <a:txBody>
                    <a:bodyPr/>
                    <a:lstStyle/>
                    <a:p>
                      <a:pPr marL="0" indent="0">
                        <a:buNone/>
                      </a:pPr>
                      <a:r>
                        <a:rPr lang="en-US" sz="1100" b="1" dirty="0">
                          <a:solidFill>
                            <a:srgbClr val="272525"/>
                          </a:solidFill>
                          <a:latin typeface="Bitter" pitchFamily="34" charset="0"/>
                          <a:ea typeface="Bitter" pitchFamily="34" charset="-122"/>
                          <a:cs typeface="Bitter" pitchFamily="34" charset="-120"/>
                        </a:rPr>
                        <a:t>Primary Key</a:t>
                      </a:r>
                      <a:endParaRPr lang="en-US" sz="1100" dirty="0">
                        <a:latin typeface="Bitter" charset="0"/>
                        <a:ea typeface="Bitter" charset="0"/>
                        <a:cs typeface="Bitter" charset="0"/>
                      </a:endParaRPr>
                    </a:p>
                  </a:txBody>
                  <a:tcPr marL="141764" marR="141764" marT="6350" marB="6350" anchor="ctr">
                    <a:lnL w="12700" cap="flat" cmpd="sng" algn="ctr">
                      <a:solidFill>
                        <a:srgbClr val="FFD1A7"/>
                      </a:solidFill>
                      <a:prstDash val="solid"/>
                      <a:round/>
                      <a:headEnd type="none" w="med" len="med"/>
                      <a:tailEnd type="none" w="med" len="med"/>
                    </a:lnL>
                    <a:lnR w="12700" cap="flat" cmpd="sng" algn="ctr">
                      <a:solidFill>
                        <a:srgbClr val="FFD1A7"/>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FFD1A7"/>
                      </a:solidFill>
                      <a:prstDash val="solid"/>
                      <a:round/>
                      <a:headEnd type="none" w="med" len="med"/>
                      <a:tailEnd type="none" w="med" len="med"/>
                    </a:lnB>
                    <a:solidFill>
                      <a:srgbClr val="FFD1A7"/>
                    </a:solidFill>
                  </a:tcPr>
                </a:tc>
                <a:tc>
                  <a:txBody>
                    <a:bodyPr/>
                    <a:lstStyle/>
                    <a:p>
                      <a:pPr marL="0" indent="0">
                        <a:buNone/>
                      </a:pPr>
                      <a:r>
                        <a:rPr lang="en-US" sz="1100" b="1" dirty="0">
                          <a:solidFill>
                            <a:srgbClr val="272525"/>
                          </a:solidFill>
                          <a:latin typeface="Bitter" pitchFamily="34" charset="0"/>
                          <a:ea typeface="Bitter" pitchFamily="34" charset="-122"/>
                          <a:cs typeface="Bitter" pitchFamily="34" charset="-120"/>
                        </a:rPr>
                        <a:t>Important Fields</a:t>
                      </a:r>
                      <a:endParaRPr lang="en-US" sz="1100" dirty="0">
                        <a:latin typeface="Bitter" charset="0"/>
                        <a:ea typeface="Bitter" charset="0"/>
                        <a:cs typeface="Bitter" charset="0"/>
                      </a:endParaRPr>
                    </a:p>
                  </a:txBody>
                  <a:tcPr marL="141764" marR="141764" marT="6350" marB="6350" anchor="ctr">
                    <a:lnL w="12700" cap="flat" cmpd="sng" algn="ctr">
                      <a:solidFill>
                        <a:srgbClr val="FFD1A7"/>
                      </a:solidFill>
                      <a:prstDash val="solid"/>
                      <a:round/>
                      <a:headEnd type="none" w="med" len="med"/>
                      <a:tailEnd type="none" w="med" len="med"/>
                    </a:lnL>
                    <a:lnR w="12700" cap="flat" cmpd="sng" algn="ctr">
                      <a:solidFill>
                        <a:srgbClr val="FFD1A7"/>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FFD1A7"/>
                      </a:solidFill>
                      <a:prstDash val="solid"/>
                      <a:round/>
                      <a:headEnd type="none" w="med" len="med"/>
                      <a:tailEnd type="none" w="med" len="med"/>
                    </a:lnB>
                    <a:solidFill>
                      <a:srgbClr val="FFD1A7"/>
                    </a:solidFill>
                  </a:tcPr>
                </a:tc>
                <a:tc>
                  <a:txBody>
                    <a:bodyPr/>
                    <a:lstStyle/>
                    <a:p>
                      <a:pPr marL="0" indent="0">
                        <a:buNone/>
                      </a:pPr>
                      <a:r>
                        <a:rPr lang="en-US" sz="1100" b="1" dirty="0">
                          <a:solidFill>
                            <a:srgbClr val="272525"/>
                          </a:solidFill>
                          <a:latin typeface="Bitter" pitchFamily="34" charset="0"/>
                          <a:ea typeface="Bitter" pitchFamily="34" charset="-122"/>
                          <a:cs typeface="Bitter" pitchFamily="34" charset="-120"/>
                        </a:rPr>
                        <a:t>Description</a:t>
                      </a:r>
                      <a:endParaRPr lang="en-US" sz="1100" dirty="0">
                        <a:latin typeface="Bitter" charset="0"/>
                        <a:ea typeface="Bitter" charset="0"/>
                        <a:cs typeface="Bitter" charset="0"/>
                      </a:endParaRPr>
                    </a:p>
                  </a:txBody>
                  <a:tcPr marL="141764" marR="141764" marT="6350" marB="6350" anchor="ctr">
                    <a:lnL w="12700" cap="flat" cmpd="sng" algn="ctr">
                      <a:solidFill>
                        <a:srgbClr val="FFD1A7"/>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525355"/>
                      </a:solidFill>
                      <a:prstDash val="solid"/>
                      <a:round/>
                      <a:headEnd type="none" w="med" len="med"/>
                      <a:tailEnd type="none" w="med" len="med"/>
                    </a:lnT>
                    <a:lnB w="12700" cap="flat" cmpd="sng" algn="ctr">
                      <a:solidFill>
                        <a:srgbClr val="FFD1A7"/>
                      </a:solidFill>
                      <a:prstDash val="solid"/>
                      <a:round/>
                      <a:headEnd type="none" w="med" len="med"/>
                      <a:tailEnd type="none" w="med" len="med"/>
                    </a:lnB>
                    <a:solidFill>
                      <a:srgbClr val="FFD1A7"/>
                    </a:solidFill>
                  </a:tcPr>
                </a:tc>
                <a:extLst>
                  <a:ext uri="{0D108BD9-81ED-4DB2-BD59-A6C34878D82A}">
                    <a16:rowId xmlns:a16="http://schemas.microsoft.com/office/drawing/2014/main" val="10000"/>
                  </a:ext>
                </a:extLst>
              </a:tr>
              <a:tr h="536958">
                <a:tc>
                  <a:txBody>
                    <a:bodyPr/>
                    <a:lstStyle/>
                    <a:p>
                      <a:pPr marL="0" indent="0">
                        <a:buNone/>
                      </a:pPr>
                      <a:r>
                        <a:rPr lang="en-US" sz="1100" b="1" dirty="0">
                          <a:solidFill>
                            <a:srgbClr val="C2C4B5"/>
                          </a:solidFill>
                          <a:latin typeface="Bitter" pitchFamily="34" charset="0"/>
                          <a:ea typeface="Bitter" pitchFamily="34" charset="-122"/>
                          <a:cs typeface="Bitter" pitchFamily="34" charset="-120"/>
                        </a:rPr>
                        <a:t>Users</a:t>
                      </a:r>
                      <a:endParaRPr lang="en-US" sz="1100" dirty="0">
                        <a:latin typeface="Bitter" charset="0"/>
                        <a:ea typeface="Bitter" charset="0"/>
                        <a:cs typeface="Bitter" charset="0"/>
                      </a:endParaRPr>
                    </a:p>
                  </a:txBody>
                  <a:tcPr marL="141764" marR="141764"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FFD1A7"/>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user_id</a:t>
                      </a:r>
                      <a:endParaRPr lang="en-US" sz="1100" dirty="0">
                        <a:latin typeface="Consolas" charset="0"/>
                        <a:ea typeface="Consolas" charset="0"/>
                        <a:cs typeface="Consolas"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FFD1A7"/>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name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email</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phone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password</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role</a:t>
                      </a:r>
                      <a:endParaRPr lang="en-US" sz="1100" dirty="0">
                        <a:latin typeface="Consolas" charset="0"/>
                        <a:ea typeface="Consolas" charset="0"/>
                        <a:cs typeface="Consolas"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FFD1A7"/>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Bitter" pitchFamily="34" charset="0"/>
                          <a:ea typeface="Bitter" pitchFamily="34" charset="-122"/>
                          <a:cs typeface="Bitter" pitchFamily="34" charset="-120"/>
                        </a:rPr>
                        <a:t>Stores buyer/user account information and login details.</a:t>
                      </a:r>
                      <a:endParaRPr lang="en-US" sz="1100" dirty="0">
                        <a:latin typeface="Bitter" charset="0"/>
                        <a:ea typeface="Bitter" charset="0"/>
                        <a:cs typeface="Bitter"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FFD1A7"/>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1"/>
                  </a:ext>
                </a:extLst>
              </a:tr>
              <a:tr h="549658">
                <a:tc>
                  <a:txBody>
                    <a:bodyPr/>
                    <a:lstStyle/>
                    <a:p>
                      <a:pPr marL="0" indent="0">
                        <a:buNone/>
                      </a:pPr>
                      <a:r>
                        <a:rPr lang="en-US" sz="1100" b="1" dirty="0">
                          <a:solidFill>
                            <a:srgbClr val="C2C4B5"/>
                          </a:solidFill>
                          <a:latin typeface="Bitter" pitchFamily="34" charset="0"/>
                          <a:ea typeface="Bitter" pitchFamily="34" charset="-122"/>
                          <a:cs typeface="Bitter" pitchFamily="34" charset="-120"/>
                        </a:rPr>
                        <a:t>Properties</a:t>
                      </a:r>
                      <a:endParaRPr lang="en-US" sz="1100" dirty="0">
                        <a:latin typeface="Bitter" charset="0"/>
                        <a:ea typeface="Bitter" charset="0"/>
                        <a:cs typeface="Bitter" charset="0"/>
                      </a:endParaRPr>
                    </a:p>
                  </a:txBody>
                  <a:tcPr marL="141764" marR="141764"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property_id</a:t>
                      </a:r>
                      <a:endParaRPr lang="en-US" sz="1100" dirty="0">
                        <a:latin typeface="Consolas" charset="0"/>
                        <a:ea typeface="Consolas" charset="0"/>
                        <a:cs typeface="Consolas"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title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location</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price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type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bedrooms</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bathrooms</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area</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description</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image</a:t>
                      </a:r>
                      <a:endParaRPr lang="en-US" sz="1100" dirty="0">
                        <a:latin typeface="Consolas" charset="0"/>
                        <a:ea typeface="Consolas" charset="0"/>
                        <a:cs typeface="Consolas"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Bitter" pitchFamily="34" charset="0"/>
                          <a:ea typeface="Bitter" pitchFamily="34" charset="-122"/>
                          <a:cs typeface="Bitter" pitchFamily="34" charset="-120"/>
                        </a:rPr>
                        <a:t>Stores details of properties available for buyers.</a:t>
                      </a:r>
                      <a:endParaRPr lang="en-US" sz="1100" dirty="0">
                        <a:latin typeface="Bitter" charset="0"/>
                        <a:ea typeface="Bitter" charset="0"/>
                        <a:cs typeface="Bitter"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2"/>
                  </a:ext>
                </a:extLst>
              </a:tr>
              <a:tr h="735391">
                <a:tc>
                  <a:txBody>
                    <a:bodyPr/>
                    <a:lstStyle/>
                    <a:p>
                      <a:pPr marL="0" indent="0">
                        <a:buNone/>
                      </a:pPr>
                      <a:r>
                        <a:rPr lang="en-US" sz="1100" b="1" dirty="0">
                          <a:solidFill>
                            <a:srgbClr val="C2C4B5"/>
                          </a:solidFill>
                          <a:latin typeface="Bitter" pitchFamily="34" charset="0"/>
                          <a:ea typeface="Bitter" pitchFamily="34" charset="-122"/>
                          <a:cs typeface="Bitter" pitchFamily="34" charset="-120"/>
                        </a:rPr>
                        <a:t>Amenities</a:t>
                      </a:r>
                      <a:endParaRPr lang="en-US" sz="1100" dirty="0">
                        <a:latin typeface="Bitter" charset="0"/>
                        <a:ea typeface="Bitter" charset="0"/>
                        <a:cs typeface="Bitter" charset="0"/>
                      </a:endParaRPr>
                    </a:p>
                  </a:txBody>
                  <a:tcPr marL="141764" marR="141764"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amenity_id</a:t>
                      </a:r>
                      <a:endParaRPr lang="en-US" sz="1100" dirty="0">
                        <a:latin typeface="Consolas" charset="0"/>
                        <a:ea typeface="Consolas" charset="0"/>
                        <a:cs typeface="Consolas"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amenity_name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description</a:t>
                      </a:r>
                      <a:endParaRPr lang="en-US" sz="1100" dirty="0">
                        <a:latin typeface="Consolas" charset="0"/>
                        <a:ea typeface="Consolas" charset="0"/>
                        <a:cs typeface="Consolas"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Bitter" pitchFamily="34" charset="0"/>
                          <a:ea typeface="Bitter" pitchFamily="34" charset="-122"/>
                          <a:cs typeface="Bitter" pitchFamily="34" charset="-120"/>
                        </a:rPr>
                        <a:t>Stores available property amenities such as parking, security, Wi-Fi and fitness center.</a:t>
                      </a:r>
                      <a:endParaRPr lang="en-US" sz="1100" dirty="0">
                        <a:latin typeface="Bitter" charset="0"/>
                        <a:ea typeface="Bitter" charset="0"/>
                        <a:cs typeface="Bitter"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3"/>
                  </a:ext>
                </a:extLst>
              </a:tr>
              <a:tr h="536958">
                <a:tc>
                  <a:txBody>
                    <a:bodyPr/>
                    <a:lstStyle/>
                    <a:p>
                      <a:pPr marL="0" indent="0">
                        <a:buNone/>
                      </a:pPr>
                      <a:r>
                        <a:rPr lang="en-US" sz="1100" b="1" dirty="0">
                          <a:solidFill>
                            <a:srgbClr val="C2C4B5"/>
                          </a:solidFill>
                          <a:latin typeface="Bitter" pitchFamily="34" charset="0"/>
                          <a:ea typeface="Bitter" pitchFamily="34" charset="-122"/>
                          <a:cs typeface="Bitter" pitchFamily="34" charset="-120"/>
                        </a:rPr>
                        <a:t>Property_Amenities</a:t>
                      </a:r>
                      <a:endParaRPr lang="en-US" sz="1100" dirty="0">
                        <a:latin typeface="Bitter" charset="0"/>
                        <a:ea typeface="Bitter" charset="0"/>
                        <a:cs typeface="Bitter" charset="0"/>
                      </a:endParaRPr>
                    </a:p>
                  </a:txBody>
                  <a:tcPr marL="141764" marR="141764"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property_amenity_id</a:t>
                      </a:r>
                      <a:endParaRPr lang="en-US" sz="1100" dirty="0">
                        <a:latin typeface="Consolas" charset="0"/>
                        <a:ea typeface="Consolas" charset="0"/>
                        <a:cs typeface="Consolas"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property_id</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amenity_id</a:t>
                      </a:r>
                      <a:endParaRPr lang="en-US" sz="1100" dirty="0">
                        <a:latin typeface="Consolas" charset="0"/>
                        <a:ea typeface="Consolas" charset="0"/>
                        <a:cs typeface="Consolas"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Bitter" pitchFamily="34" charset="0"/>
                          <a:ea typeface="Bitter" pitchFamily="34" charset="-122"/>
                          <a:cs typeface="Bitter" pitchFamily="34" charset="-120"/>
                        </a:rPr>
                        <a:t>Connects properties with their available amenities.</a:t>
                      </a:r>
                      <a:endParaRPr lang="en-US" sz="1100" dirty="0">
                        <a:latin typeface="Bitter" charset="0"/>
                        <a:ea typeface="Bitter" charset="0"/>
                        <a:cs typeface="Bitter"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4"/>
                  </a:ext>
                </a:extLst>
              </a:tr>
              <a:tr h="536958">
                <a:tc>
                  <a:txBody>
                    <a:bodyPr/>
                    <a:lstStyle/>
                    <a:p>
                      <a:pPr marL="0" indent="0">
                        <a:buNone/>
                      </a:pPr>
                      <a:r>
                        <a:rPr lang="en-US" sz="1100" b="1" dirty="0">
                          <a:solidFill>
                            <a:srgbClr val="C2C4B5"/>
                          </a:solidFill>
                          <a:latin typeface="Bitter" pitchFamily="34" charset="0"/>
                          <a:ea typeface="Bitter" pitchFamily="34" charset="-122"/>
                          <a:cs typeface="Bitter" pitchFamily="34" charset="-120"/>
                        </a:rPr>
                        <a:t>Favorites</a:t>
                      </a:r>
                      <a:endParaRPr lang="en-US" sz="1100" dirty="0">
                        <a:latin typeface="Bitter" charset="0"/>
                        <a:ea typeface="Bitter" charset="0"/>
                        <a:cs typeface="Bitter" charset="0"/>
                      </a:endParaRPr>
                    </a:p>
                  </a:txBody>
                  <a:tcPr marL="141764" marR="141764"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favorite_id</a:t>
                      </a:r>
                      <a:endParaRPr lang="en-US" sz="1100" dirty="0">
                        <a:latin typeface="Consolas" charset="0"/>
                        <a:ea typeface="Consolas" charset="0"/>
                        <a:cs typeface="Consolas"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user_id</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property_id</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saved_date</a:t>
                      </a:r>
                      <a:endParaRPr lang="en-US" sz="1100" dirty="0">
                        <a:latin typeface="Consolas" charset="0"/>
                        <a:ea typeface="Consolas" charset="0"/>
                        <a:cs typeface="Consolas"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Bitter" pitchFamily="34" charset="0"/>
                          <a:ea typeface="Bitter" pitchFamily="34" charset="-122"/>
                          <a:cs typeface="Bitter" pitchFamily="34" charset="-120"/>
                        </a:rPr>
                        <a:t>Stores properties saved by buyers for future reference.</a:t>
                      </a:r>
                      <a:endParaRPr lang="en-US" sz="1100" dirty="0">
                        <a:latin typeface="Bitter" charset="0"/>
                        <a:ea typeface="Bitter" charset="0"/>
                        <a:cs typeface="Bitter"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5"/>
                  </a:ext>
                </a:extLst>
              </a:tr>
              <a:tr h="549658">
                <a:tc>
                  <a:txBody>
                    <a:bodyPr/>
                    <a:lstStyle/>
                    <a:p>
                      <a:pPr marL="0" indent="0">
                        <a:buNone/>
                      </a:pPr>
                      <a:r>
                        <a:rPr lang="en-US" sz="1100" b="1" dirty="0">
                          <a:solidFill>
                            <a:srgbClr val="C2C4B5"/>
                          </a:solidFill>
                          <a:latin typeface="Bitter" pitchFamily="34" charset="0"/>
                          <a:ea typeface="Bitter" pitchFamily="34" charset="-122"/>
                          <a:cs typeface="Bitter" pitchFamily="34" charset="-120"/>
                        </a:rPr>
                        <a:t>Visits</a:t>
                      </a:r>
                      <a:endParaRPr lang="en-US" sz="1100" dirty="0">
                        <a:latin typeface="Bitter" charset="0"/>
                        <a:ea typeface="Bitter" charset="0"/>
                        <a:cs typeface="Bitter" charset="0"/>
                      </a:endParaRPr>
                    </a:p>
                  </a:txBody>
                  <a:tcPr marL="141764" marR="141764"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visit_id</a:t>
                      </a:r>
                      <a:endParaRPr lang="en-US" sz="1100" dirty="0">
                        <a:latin typeface="Consolas" charset="0"/>
                        <a:ea typeface="Consolas" charset="0"/>
                        <a:cs typeface="Consolas"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user_id</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property_id</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visit_date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visit_time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status</a:t>
                      </a:r>
                      <a:endParaRPr lang="en-US" sz="1100" dirty="0">
                        <a:latin typeface="Consolas" charset="0"/>
                        <a:ea typeface="Consolas" charset="0"/>
                        <a:cs typeface="Consolas"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Bitter" pitchFamily="34" charset="0"/>
                          <a:ea typeface="Bitter" pitchFamily="34" charset="-122"/>
                          <a:cs typeface="Bitter" pitchFamily="34" charset="-120"/>
                        </a:rPr>
                        <a:t>Stores property visit/schedule information requested by buyers.</a:t>
                      </a:r>
                      <a:endParaRPr lang="en-US" sz="1100" dirty="0">
                        <a:latin typeface="Bitter" charset="0"/>
                        <a:ea typeface="Bitter" charset="0"/>
                        <a:cs typeface="Bitter"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252628"/>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6"/>
                  </a:ext>
                </a:extLst>
              </a:tr>
              <a:tr h="549658">
                <a:tc>
                  <a:txBody>
                    <a:bodyPr/>
                    <a:lstStyle/>
                    <a:p>
                      <a:pPr marL="0" indent="0">
                        <a:buNone/>
                      </a:pPr>
                      <a:r>
                        <a:rPr lang="en-US" sz="1100" b="1" dirty="0">
                          <a:solidFill>
                            <a:srgbClr val="C2C4B5"/>
                          </a:solidFill>
                          <a:latin typeface="Bitter" pitchFamily="34" charset="0"/>
                          <a:ea typeface="Bitter" pitchFamily="34" charset="-122"/>
                          <a:cs typeface="Bitter" pitchFamily="34" charset="-120"/>
                        </a:rPr>
                        <a:t>Agents</a:t>
                      </a:r>
                      <a:endParaRPr lang="en-US" sz="1100" dirty="0">
                        <a:latin typeface="Bitter" charset="0"/>
                        <a:ea typeface="Bitter" charset="0"/>
                        <a:cs typeface="Bitter" charset="0"/>
                      </a:endParaRPr>
                    </a:p>
                  </a:txBody>
                  <a:tcPr marL="141764" marR="141764" marT="6350" marB="6350" anchor="ctr">
                    <a:lnL w="12700" cap="flat" cmpd="sng" algn="ctr">
                      <a:solidFill>
                        <a:srgbClr val="525355"/>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agent_id</a:t>
                      </a:r>
                      <a:endParaRPr lang="en-US" sz="1100" dirty="0">
                        <a:latin typeface="Consolas" charset="0"/>
                        <a:ea typeface="Consolas" charset="0"/>
                        <a:cs typeface="Consolas"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name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phone</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email</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verification_status</a:t>
                      </a:r>
                      <a:endParaRPr lang="en-US" sz="1100" dirty="0">
                        <a:latin typeface="Consolas" charset="0"/>
                        <a:ea typeface="Consolas" charset="0"/>
                        <a:cs typeface="Consolas"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1B1C1E"/>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tc>
                  <a:txBody>
                    <a:bodyPr/>
                    <a:lstStyle/>
                    <a:p>
                      <a:pPr marL="0" indent="0">
                        <a:buNone/>
                      </a:pPr>
                      <a:r>
                        <a:rPr lang="en-US" sz="1100" dirty="0">
                          <a:solidFill>
                            <a:srgbClr val="C2C4B5"/>
                          </a:solidFill>
                          <a:latin typeface="Bitter" pitchFamily="34" charset="0"/>
                          <a:ea typeface="Bitter" pitchFamily="34" charset="-122"/>
                          <a:cs typeface="Bitter" pitchFamily="34" charset="-120"/>
                        </a:rPr>
                        <a:t>Stores property consultant/agent information.</a:t>
                      </a:r>
                      <a:endParaRPr lang="en-US" sz="1100" dirty="0">
                        <a:latin typeface="Bitter" charset="0"/>
                        <a:ea typeface="Bitter" charset="0"/>
                        <a:cs typeface="Bitter" charset="0"/>
                      </a:endParaRPr>
                    </a:p>
                  </a:txBody>
                  <a:tcPr marL="141764" marR="141764" marT="6350" marB="6350" anchor="ctr">
                    <a:lnL w="12700" cap="flat" cmpd="sng" algn="ctr">
                      <a:solidFill>
                        <a:srgbClr val="1B1C1E"/>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252628"/>
                      </a:solidFill>
                      <a:prstDash val="solid"/>
                      <a:round/>
                      <a:headEnd type="none" w="med" len="med"/>
                      <a:tailEnd type="none" w="med" len="med"/>
                    </a:lnT>
                    <a:lnB w="12700" cap="flat" cmpd="sng" algn="ctr">
                      <a:solidFill>
                        <a:srgbClr val="1B1C1E"/>
                      </a:solidFill>
                      <a:prstDash val="solid"/>
                      <a:round/>
                      <a:headEnd type="none" w="med" len="med"/>
                      <a:tailEnd type="none" w="med" len="med"/>
                    </a:lnB>
                    <a:solidFill>
                      <a:srgbClr val="000000">
                        <a:alpha val="4000"/>
                      </a:srgbClr>
                    </a:solidFill>
                  </a:tcPr>
                </a:tc>
                <a:extLst>
                  <a:ext uri="{0D108BD9-81ED-4DB2-BD59-A6C34878D82A}">
                    <a16:rowId xmlns:a16="http://schemas.microsoft.com/office/drawing/2014/main" val="10007"/>
                  </a:ext>
                </a:extLst>
              </a:tr>
              <a:tr h="536958">
                <a:tc>
                  <a:txBody>
                    <a:bodyPr/>
                    <a:lstStyle/>
                    <a:p>
                      <a:pPr marL="0" indent="0">
                        <a:buNone/>
                      </a:pPr>
                      <a:r>
                        <a:rPr lang="en-US" sz="1100" b="1" dirty="0">
                          <a:solidFill>
                            <a:srgbClr val="C2C4B5"/>
                          </a:solidFill>
                          <a:latin typeface="Bitter" pitchFamily="34" charset="0"/>
                          <a:ea typeface="Bitter" pitchFamily="34" charset="-122"/>
                          <a:cs typeface="Bitter" pitchFamily="34" charset="-120"/>
                        </a:rPr>
                        <a:t>Property_Agents</a:t>
                      </a:r>
                      <a:endParaRPr lang="en-US" sz="1100" dirty="0">
                        <a:latin typeface="Bitter" charset="0"/>
                        <a:ea typeface="Bitter" charset="0"/>
                        <a:cs typeface="Bitter" charset="0"/>
                      </a:endParaRPr>
                    </a:p>
                  </a:txBody>
                  <a:tcPr marL="141764" marR="141764" marT="6350" marB="6350" anchor="ctr">
                    <a:lnL w="12700" cap="flat" cmpd="sng" algn="ctr">
                      <a:solidFill>
                        <a:srgbClr val="525355"/>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property_agent_id</a:t>
                      </a:r>
                      <a:endParaRPr lang="en-US" sz="1100" dirty="0">
                        <a:latin typeface="Consolas" charset="0"/>
                        <a:ea typeface="Consolas" charset="0"/>
                        <a:cs typeface="Consolas"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Consolas" pitchFamily="34" charset="0"/>
                          <a:ea typeface="Consolas" pitchFamily="34" charset="-122"/>
                          <a:cs typeface="Consolas" pitchFamily="34" charset="-120"/>
                        </a:rPr>
                        <a:t>property_id</a:t>
                      </a:r>
                      <a:r>
                        <a:rPr lang="en-US" sz="1100" dirty="0">
                          <a:solidFill>
                            <a:srgbClr val="C2C4B5"/>
                          </a:solidFill>
                          <a:latin typeface="Bitter" pitchFamily="34" charset="0"/>
                          <a:ea typeface="Bitter" pitchFamily="34" charset="-122"/>
                          <a:cs typeface="Bitter" pitchFamily="34" charset="-120"/>
                        </a:rPr>
                        <a:t>, </a:t>
                      </a:r>
                      <a:r>
                        <a:rPr lang="en-US" sz="1100" dirty="0">
                          <a:solidFill>
                            <a:srgbClr val="C2C4B5"/>
                          </a:solidFill>
                          <a:latin typeface="Consolas" pitchFamily="34" charset="0"/>
                          <a:ea typeface="Consolas" pitchFamily="34" charset="-122"/>
                          <a:cs typeface="Consolas" pitchFamily="34" charset="-120"/>
                        </a:rPr>
                        <a:t>agent_id</a:t>
                      </a:r>
                      <a:endParaRPr lang="en-US" sz="1100" dirty="0">
                        <a:latin typeface="Consolas" charset="0"/>
                        <a:ea typeface="Consolas" charset="0"/>
                        <a:cs typeface="Consolas"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252628"/>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FFFFF">
                        <a:alpha val="4000"/>
                      </a:srgbClr>
                    </a:solidFill>
                  </a:tcPr>
                </a:tc>
                <a:tc>
                  <a:txBody>
                    <a:bodyPr/>
                    <a:lstStyle/>
                    <a:p>
                      <a:pPr marL="0" indent="0">
                        <a:buNone/>
                      </a:pPr>
                      <a:r>
                        <a:rPr lang="en-US" sz="1100" dirty="0">
                          <a:solidFill>
                            <a:srgbClr val="C2C4B5"/>
                          </a:solidFill>
                          <a:latin typeface="Bitter" pitchFamily="34" charset="0"/>
                          <a:ea typeface="Bitter" pitchFamily="34" charset="-122"/>
                          <a:cs typeface="Bitter" pitchFamily="34" charset="-120"/>
                        </a:rPr>
                        <a:t>Associates properties with their respective agents.</a:t>
                      </a:r>
                      <a:endParaRPr lang="en-US" sz="1100" dirty="0">
                        <a:latin typeface="Bitter" charset="0"/>
                        <a:ea typeface="Bitter" charset="0"/>
                        <a:cs typeface="Bitter" charset="0"/>
                      </a:endParaRPr>
                    </a:p>
                  </a:txBody>
                  <a:tcPr marL="141764" marR="141764" marT="6350" marB="6350" anchor="ctr">
                    <a:lnL w="12700" cap="flat" cmpd="sng" algn="ctr">
                      <a:solidFill>
                        <a:srgbClr val="252628"/>
                      </a:solidFill>
                      <a:prstDash val="solid"/>
                      <a:round/>
                      <a:headEnd type="none" w="med" len="med"/>
                      <a:tailEnd type="none" w="med" len="med"/>
                    </a:lnL>
                    <a:lnR w="12700" cap="flat" cmpd="sng" algn="ctr">
                      <a:solidFill>
                        <a:srgbClr val="525355"/>
                      </a:solidFill>
                      <a:prstDash val="solid"/>
                      <a:round/>
                      <a:headEnd type="none" w="med" len="med"/>
                      <a:tailEnd type="none" w="med" len="med"/>
                    </a:lnR>
                    <a:lnT w="12700" cap="flat" cmpd="sng" algn="ctr">
                      <a:solidFill>
                        <a:srgbClr val="1B1C1E"/>
                      </a:solidFill>
                      <a:prstDash val="solid"/>
                      <a:round/>
                      <a:headEnd type="none" w="med" len="med"/>
                      <a:tailEnd type="none" w="med" len="med"/>
                    </a:lnT>
                    <a:lnB w="12700" cap="flat" cmpd="sng" algn="ctr">
                      <a:solidFill>
                        <a:srgbClr val="525355"/>
                      </a:solidFill>
                      <a:prstDash val="solid"/>
                      <a:round/>
                      <a:headEnd type="none" w="med" len="med"/>
                      <a:tailEnd type="none" w="med" len="med"/>
                    </a:lnB>
                    <a:solidFill>
                      <a:srgbClr val="FFFFFF">
                        <a:alpha val="4000"/>
                      </a:srgbClr>
                    </a:solidFill>
                  </a:tcPr>
                </a:tc>
                <a:extLst>
                  <a:ext uri="{0D108BD9-81ED-4DB2-BD59-A6C34878D82A}">
                    <a16:rowId xmlns:a16="http://schemas.microsoft.com/office/drawing/2014/main" val="10008"/>
                  </a:ext>
                </a:extLst>
              </a:tr>
            </a:tbl>
          </a:graphicData>
        </a:graphic>
      </p:graphicFrame>
      <p:pic>
        <p:nvPicPr>
          <p:cNvPr id="4" name="Picture 3">
            <a:extLst>
              <a:ext uri="{FF2B5EF4-FFF2-40B4-BE49-F238E27FC236}">
                <a16:creationId xmlns:a16="http://schemas.microsoft.com/office/drawing/2014/main" id="{51368170-0B91-33F8-583F-AA4E8BBD5848}"/>
              </a:ext>
            </a:extLst>
          </p:cNvPr>
          <p:cNvPicPr>
            <a:picLocks noChangeAspect="1"/>
          </p:cNvPicPr>
          <p:nvPr/>
        </p:nvPicPr>
        <p:blipFill>
          <a:blip r:embed="rId3"/>
          <a:stretch>
            <a:fillRect/>
          </a:stretch>
        </p:blipFill>
        <p:spPr>
          <a:xfrm>
            <a:off x="11054964" y="6576036"/>
            <a:ext cx="1074513" cy="2819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565845"/>
            <a:ext cx="6296860" cy="383977"/>
          </a:xfrm>
          <a:prstGeom prst="rect">
            <a:avLst/>
          </a:prstGeom>
          <a:noFill/>
          <a:ln/>
        </p:spPr>
        <p:txBody>
          <a:bodyPr wrap="none" lIns="0" tIns="0" rIns="0" bIns="0" rtlCol="0" anchor="t"/>
          <a:lstStyle/>
          <a:p>
            <a:pPr marL="0" indent="0" algn="l">
              <a:lnSpc>
                <a:spcPct val="104000"/>
              </a:lnSpc>
              <a:buNone/>
            </a:pPr>
            <a:r>
              <a:rPr lang="en-US" sz="2400" b="1" dirty="0">
                <a:solidFill>
                  <a:srgbClr val="E1E5CD"/>
                </a:solidFill>
                <a:latin typeface="Outfit Bold" pitchFamily="34" charset="0"/>
                <a:ea typeface="Outfit Bold" pitchFamily="34" charset="-122"/>
                <a:cs typeface="Outfit Bold" pitchFamily="34" charset="-120"/>
              </a:rPr>
              <a:t>Project Status &amp; Next Steps</a:t>
            </a:r>
            <a:endParaRPr lang="en-US" sz="2400" dirty="0"/>
          </a:p>
        </p:txBody>
      </p:sp>
      <p:sp>
        <p:nvSpPr>
          <p:cNvPr id="4" name="Text 1"/>
          <p:cNvSpPr/>
          <p:nvPr/>
        </p:nvSpPr>
        <p:spPr>
          <a:xfrm>
            <a:off x="5233360" y="1149350"/>
            <a:ext cx="2998613" cy="191988"/>
          </a:xfrm>
          <a:prstGeom prst="rect">
            <a:avLst/>
          </a:prstGeom>
          <a:noFill/>
          <a:ln/>
        </p:spPr>
        <p:txBody>
          <a:bodyPr wrap="none" lIns="0" tIns="0" rIns="0" bIns="0" rtlCol="0" anchor="t"/>
          <a:lstStyle/>
          <a:p>
            <a:pPr marL="0" indent="0" algn="l">
              <a:lnSpc>
                <a:spcPct val="104000"/>
              </a:lnSpc>
              <a:buNone/>
            </a:pPr>
            <a:r>
              <a:rPr lang="en-US" sz="1200" b="1" dirty="0">
                <a:solidFill>
                  <a:srgbClr val="E1E5CD"/>
                </a:solidFill>
                <a:latin typeface="Outfit Bold" pitchFamily="34" charset="0"/>
                <a:ea typeface="Outfit Bold" pitchFamily="34" charset="-122"/>
                <a:cs typeface="Outfit Bold" pitchFamily="34" charset="-120"/>
              </a:rPr>
              <a:t>Current Progress</a:t>
            </a:r>
            <a:endParaRPr lang="en-US" sz="1200" dirty="0"/>
          </a:p>
        </p:txBody>
      </p:sp>
      <p:sp>
        <p:nvSpPr>
          <p:cNvPr id="5" name="Text 2"/>
          <p:cNvSpPr/>
          <p:nvPr/>
        </p:nvSpPr>
        <p:spPr>
          <a:xfrm>
            <a:off x="5233360" y="1431131"/>
            <a:ext cx="245659" cy="153491"/>
          </a:xfrm>
          <a:prstGeom prst="rect">
            <a:avLst/>
          </a:prstGeom>
          <a:noFill/>
          <a:ln/>
        </p:spPr>
        <p:txBody>
          <a:bodyPr wrap="none" lIns="0" tIns="0" rIns="0" bIns="0" rtlCol="0" anchor="ctr"/>
          <a:lstStyle/>
          <a:p>
            <a:pPr marL="0" indent="0" algn="l">
              <a:lnSpc>
                <a:spcPct val="100000"/>
              </a:lnSpc>
              <a:buNone/>
            </a:pPr>
            <a:r>
              <a:rPr lang="en-US" sz="950" dirty="0">
                <a:solidFill>
                  <a:srgbClr val="C2C4B5"/>
                </a:solidFill>
                <a:latin typeface="Outfit Light" pitchFamily="34" charset="0"/>
                <a:ea typeface="Outfit Light" pitchFamily="34" charset="-122"/>
                <a:cs typeface="Outfit Light" pitchFamily="34" charset="-120"/>
              </a:rPr>
              <a:t>01</a:t>
            </a:r>
            <a:endParaRPr lang="en-US" sz="950" dirty="0"/>
          </a:p>
        </p:txBody>
      </p:sp>
      <p:sp>
        <p:nvSpPr>
          <p:cNvPr id="6" name="Shape 3"/>
          <p:cNvSpPr/>
          <p:nvPr/>
        </p:nvSpPr>
        <p:spPr>
          <a:xfrm>
            <a:off x="5233360" y="1627088"/>
            <a:ext cx="2998613" cy="12700"/>
          </a:xfrm>
          <a:prstGeom prst="rect">
            <a:avLst/>
          </a:prstGeom>
          <a:solidFill>
            <a:srgbClr val="9FA582"/>
          </a:solidFill>
          <a:ln/>
        </p:spPr>
      </p:sp>
      <p:sp>
        <p:nvSpPr>
          <p:cNvPr id="7" name="Text 4"/>
          <p:cNvSpPr/>
          <p:nvPr/>
        </p:nvSpPr>
        <p:spPr>
          <a:xfrm>
            <a:off x="5233360" y="1713905"/>
            <a:ext cx="2998613" cy="191988"/>
          </a:xfrm>
          <a:prstGeom prst="rect">
            <a:avLst/>
          </a:prstGeom>
          <a:noFill/>
          <a:ln/>
        </p:spPr>
        <p:txBody>
          <a:bodyPr wrap="none" lIns="0" tIns="0" rIns="0" bIns="0" rtlCol="0" anchor="t"/>
          <a:lstStyle/>
          <a:p>
            <a:pPr marL="0" indent="0" algn="l">
              <a:lnSpc>
                <a:spcPct val="104000"/>
              </a:lnSpc>
              <a:buNone/>
            </a:pPr>
            <a:r>
              <a:rPr lang="en-US" sz="1200" b="1" dirty="0">
                <a:solidFill>
                  <a:srgbClr val="C2C4B5"/>
                </a:solidFill>
                <a:latin typeface="Outfit Bold" pitchFamily="34" charset="0"/>
                <a:ea typeface="Outfit Bold" pitchFamily="34" charset="-122"/>
                <a:cs typeface="Outfit Bold" pitchFamily="34" charset="-120"/>
              </a:rPr>
              <a:t>Requirements Analysis </a:t>
            </a:r>
            <a:endParaRPr lang="en-US" sz="1200" dirty="0"/>
          </a:p>
        </p:txBody>
      </p:sp>
      <p:sp>
        <p:nvSpPr>
          <p:cNvPr id="8" name="Text 5"/>
          <p:cNvSpPr/>
          <p:nvPr/>
        </p:nvSpPr>
        <p:spPr>
          <a:xfrm>
            <a:off x="5233360" y="1985665"/>
            <a:ext cx="2998613" cy="486370"/>
          </a:xfrm>
          <a:prstGeom prst="rect">
            <a:avLst/>
          </a:prstGeom>
          <a:noFill/>
          <a:ln/>
        </p:spPr>
        <p:txBody>
          <a:bodyPr wrap="square" lIns="0" tIns="0" rIns="0" bIns="0" rtlCol="0" anchor="t">
            <a:normAutofit/>
          </a:bodyPr>
          <a:lstStyle/>
          <a:p>
            <a:pPr marL="0" indent="0" algn="l">
              <a:lnSpc>
                <a:spcPct val="110000"/>
              </a:lnSpc>
              <a:buNone/>
            </a:pPr>
            <a:r>
              <a:rPr lang="en-US" sz="950" dirty="0">
                <a:solidFill>
                  <a:srgbClr val="C2C4B5"/>
                </a:solidFill>
                <a:latin typeface="Bitter" pitchFamily="34" charset="0"/>
                <a:ea typeface="Bitter" pitchFamily="34" charset="-122"/>
                <a:cs typeface="Bitter" pitchFamily="34" charset="-120"/>
              </a:rPr>
              <a:t>Problem scope, buyer requirements, user stories, and frontend system requirements have been identified and documented.</a:t>
            </a:r>
            <a:endParaRPr lang="en-US" sz="950" dirty="0"/>
          </a:p>
        </p:txBody>
      </p:sp>
      <p:sp>
        <p:nvSpPr>
          <p:cNvPr id="9" name="Text 6"/>
          <p:cNvSpPr/>
          <p:nvPr/>
        </p:nvSpPr>
        <p:spPr>
          <a:xfrm>
            <a:off x="5233360" y="2643882"/>
            <a:ext cx="245659" cy="153491"/>
          </a:xfrm>
          <a:prstGeom prst="rect">
            <a:avLst/>
          </a:prstGeom>
          <a:noFill/>
          <a:ln/>
        </p:spPr>
        <p:txBody>
          <a:bodyPr wrap="none" lIns="0" tIns="0" rIns="0" bIns="0" rtlCol="0" anchor="ctr"/>
          <a:lstStyle/>
          <a:p>
            <a:pPr marL="0" indent="0" algn="l">
              <a:lnSpc>
                <a:spcPct val="100000"/>
              </a:lnSpc>
              <a:buNone/>
            </a:pPr>
            <a:r>
              <a:rPr lang="en-US" sz="950" dirty="0">
                <a:solidFill>
                  <a:srgbClr val="C2C4B5"/>
                </a:solidFill>
                <a:latin typeface="Outfit Light" pitchFamily="34" charset="0"/>
                <a:ea typeface="Outfit Light" pitchFamily="34" charset="-122"/>
                <a:cs typeface="Outfit Light" pitchFamily="34" charset="-120"/>
              </a:rPr>
              <a:t>02</a:t>
            </a:r>
            <a:endParaRPr lang="en-US" sz="950" dirty="0"/>
          </a:p>
        </p:txBody>
      </p:sp>
      <p:sp>
        <p:nvSpPr>
          <p:cNvPr id="10" name="Shape 7"/>
          <p:cNvSpPr/>
          <p:nvPr/>
        </p:nvSpPr>
        <p:spPr>
          <a:xfrm>
            <a:off x="5233360" y="2839839"/>
            <a:ext cx="2998613" cy="12700"/>
          </a:xfrm>
          <a:prstGeom prst="rect">
            <a:avLst/>
          </a:prstGeom>
          <a:solidFill>
            <a:srgbClr val="9FA582"/>
          </a:solidFill>
          <a:ln/>
        </p:spPr>
      </p:sp>
      <p:sp>
        <p:nvSpPr>
          <p:cNvPr id="11" name="Text 8"/>
          <p:cNvSpPr/>
          <p:nvPr/>
        </p:nvSpPr>
        <p:spPr>
          <a:xfrm>
            <a:off x="5233360" y="2926655"/>
            <a:ext cx="2998613" cy="191988"/>
          </a:xfrm>
          <a:prstGeom prst="rect">
            <a:avLst/>
          </a:prstGeom>
          <a:noFill/>
          <a:ln/>
        </p:spPr>
        <p:txBody>
          <a:bodyPr wrap="none" lIns="0" tIns="0" rIns="0" bIns="0" rtlCol="0" anchor="t"/>
          <a:lstStyle/>
          <a:p>
            <a:pPr marL="0" indent="0" algn="l">
              <a:lnSpc>
                <a:spcPct val="104000"/>
              </a:lnSpc>
              <a:buNone/>
            </a:pPr>
            <a:r>
              <a:rPr lang="en-US" sz="1200" b="1" dirty="0">
                <a:solidFill>
                  <a:srgbClr val="C2C4B5"/>
                </a:solidFill>
                <a:latin typeface="Outfit Bold" pitchFamily="34" charset="0"/>
                <a:ea typeface="Outfit Bold" pitchFamily="34" charset="-122"/>
                <a:cs typeface="Outfit Bold" pitchFamily="34" charset="-120"/>
              </a:rPr>
              <a:t>Frontend Development</a:t>
            </a:r>
            <a:endParaRPr lang="en-US" sz="1200" dirty="0"/>
          </a:p>
        </p:txBody>
      </p:sp>
      <p:sp>
        <p:nvSpPr>
          <p:cNvPr id="12" name="Text 9"/>
          <p:cNvSpPr/>
          <p:nvPr/>
        </p:nvSpPr>
        <p:spPr>
          <a:xfrm>
            <a:off x="5233360" y="3198416"/>
            <a:ext cx="2998613" cy="486370"/>
          </a:xfrm>
          <a:prstGeom prst="rect">
            <a:avLst/>
          </a:prstGeom>
          <a:noFill/>
          <a:ln/>
        </p:spPr>
        <p:txBody>
          <a:bodyPr wrap="square" lIns="0" tIns="0" rIns="0" bIns="0" rtlCol="0" anchor="t">
            <a:normAutofit/>
          </a:bodyPr>
          <a:lstStyle/>
          <a:p>
            <a:pPr marL="0" indent="0" algn="l">
              <a:lnSpc>
                <a:spcPct val="110000"/>
              </a:lnSpc>
              <a:buNone/>
            </a:pPr>
            <a:r>
              <a:rPr lang="en-US" sz="950" dirty="0">
                <a:solidFill>
                  <a:srgbClr val="C2C4B5"/>
                </a:solidFill>
                <a:latin typeface="Bitter" pitchFamily="34" charset="0"/>
                <a:ea typeface="Bitter" pitchFamily="34" charset="-122"/>
                <a:cs typeface="Bitter" pitchFamily="34" charset="-120"/>
              </a:rPr>
              <a:t>Home page, property listing, property details, login, registration, and buyer dashboard have been implemented using React.</a:t>
            </a:r>
            <a:endParaRPr lang="en-US" sz="950" dirty="0"/>
          </a:p>
        </p:txBody>
      </p:sp>
      <p:sp>
        <p:nvSpPr>
          <p:cNvPr id="13" name="Text 10"/>
          <p:cNvSpPr/>
          <p:nvPr/>
        </p:nvSpPr>
        <p:spPr>
          <a:xfrm>
            <a:off x="5233360" y="3856633"/>
            <a:ext cx="245659" cy="153491"/>
          </a:xfrm>
          <a:prstGeom prst="rect">
            <a:avLst/>
          </a:prstGeom>
          <a:noFill/>
          <a:ln/>
        </p:spPr>
        <p:txBody>
          <a:bodyPr wrap="none" lIns="0" tIns="0" rIns="0" bIns="0" rtlCol="0" anchor="ctr"/>
          <a:lstStyle/>
          <a:p>
            <a:pPr marL="0" indent="0" algn="l">
              <a:lnSpc>
                <a:spcPct val="100000"/>
              </a:lnSpc>
              <a:buNone/>
            </a:pPr>
            <a:r>
              <a:rPr lang="en-US" sz="950" dirty="0">
                <a:solidFill>
                  <a:srgbClr val="C2C4B5"/>
                </a:solidFill>
                <a:latin typeface="Outfit Light" pitchFamily="34" charset="0"/>
                <a:ea typeface="Outfit Light" pitchFamily="34" charset="-122"/>
                <a:cs typeface="Outfit Light" pitchFamily="34" charset="-120"/>
              </a:rPr>
              <a:t>03</a:t>
            </a:r>
            <a:endParaRPr lang="en-US" sz="950" dirty="0"/>
          </a:p>
        </p:txBody>
      </p:sp>
      <p:sp>
        <p:nvSpPr>
          <p:cNvPr id="14" name="Shape 11"/>
          <p:cNvSpPr/>
          <p:nvPr/>
        </p:nvSpPr>
        <p:spPr>
          <a:xfrm>
            <a:off x="5233360" y="4052590"/>
            <a:ext cx="2998613" cy="12700"/>
          </a:xfrm>
          <a:prstGeom prst="rect">
            <a:avLst/>
          </a:prstGeom>
          <a:solidFill>
            <a:srgbClr val="9FA582"/>
          </a:solidFill>
          <a:ln/>
        </p:spPr>
      </p:sp>
      <p:sp>
        <p:nvSpPr>
          <p:cNvPr id="15" name="Text 12"/>
          <p:cNvSpPr/>
          <p:nvPr/>
        </p:nvSpPr>
        <p:spPr>
          <a:xfrm>
            <a:off x="5233360" y="4139406"/>
            <a:ext cx="2998613" cy="191988"/>
          </a:xfrm>
          <a:prstGeom prst="rect">
            <a:avLst/>
          </a:prstGeom>
          <a:noFill/>
          <a:ln/>
        </p:spPr>
        <p:txBody>
          <a:bodyPr wrap="none" lIns="0" tIns="0" rIns="0" bIns="0" rtlCol="0" anchor="t"/>
          <a:lstStyle/>
          <a:p>
            <a:pPr marL="0" indent="0" algn="l">
              <a:lnSpc>
                <a:spcPct val="104000"/>
              </a:lnSpc>
              <a:buNone/>
            </a:pPr>
            <a:r>
              <a:rPr lang="en-US" sz="1200" b="1" dirty="0">
                <a:solidFill>
                  <a:srgbClr val="C2C4B5"/>
                </a:solidFill>
                <a:latin typeface="Outfit Bold" pitchFamily="34" charset="0"/>
                <a:ea typeface="Outfit Bold" pitchFamily="34" charset="-122"/>
                <a:cs typeface="Outfit Bold" pitchFamily="34" charset="-120"/>
              </a:rPr>
              <a:t>UI/UX Design</a:t>
            </a:r>
            <a:endParaRPr lang="en-US" sz="1200" dirty="0"/>
          </a:p>
        </p:txBody>
      </p:sp>
      <p:sp>
        <p:nvSpPr>
          <p:cNvPr id="16" name="Text 13"/>
          <p:cNvSpPr/>
          <p:nvPr/>
        </p:nvSpPr>
        <p:spPr>
          <a:xfrm>
            <a:off x="5233360" y="4411166"/>
            <a:ext cx="2998613" cy="486370"/>
          </a:xfrm>
          <a:prstGeom prst="rect">
            <a:avLst/>
          </a:prstGeom>
          <a:noFill/>
          <a:ln/>
        </p:spPr>
        <p:txBody>
          <a:bodyPr wrap="square" lIns="0" tIns="0" rIns="0" bIns="0" rtlCol="0" anchor="t">
            <a:normAutofit/>
          </a:bodyPr>
          <a:lstStyle/>
          <a:p>
            <a:pPr marL="0" indent="0" algn="l">
              <a:lnSpc>
                <a:spcPct val="110000"/>
              </a:lnSpc>
              <a:buNone/>
            </a:pPr>
            <a:r>
              <a:rPr lang="en-US" sz="950" dirty="0">
                <a:solidFill>
                  <a:srgbClr val="C2C4B5"/>
                </a:solidFill>
                <a:latin typeface="Bitter" pitchFamily="34" charset="0"/>
                <a:ea typeface="Bitter" pitchFamily="34" charset="-122"/>
                <a:cs typeface="Bitter" pitchFamily="34" charset="-120"/>
              </a:rPr>
              <a:t>Modern, responsive real estate interface designed with a premium </a:t>
            </a:r>
            <a:r>
              <a:rPr lang="en-US" sz="950" b="1" dirty="0">
                <a:solidFill>
                  <a:srgbClr val="C2C4B5"/>
                </a:solidFill>
                <a:latin typeface="Bitter Bold" pitchFamily="34" charset="0"/>
                <a:ea typeface="Bitter Bold" pitchFamily="34" charset="-122"/>
                <a:cs typeface="Bitter Bold" pitchFamily="34" charset="-120"/>
              </a:rPr>
              <a:t>EstateLy</a:t>
            </a:r>
            <a:r>
              <a:rPr lang="en-US" sz="950" dirty="0">
                <a:solidFill>
                  <a:srgbClr val="C2C4B5"/>
                </a:solidFill>
                <a:latin typeface="Bitter" pitchFamily="34" charset="0"/>
                <a:ea typeface="Bitter" pitchFamily="34" charset="-122"/>
                <a:cs typeface="Bitter" pitchFamily="34" charset="-120"/>
              </a:rPr>
              <a:t> theme for easy property discovery and buyer self-service.</a:t>
            </a:r>
            <a:endParaRPr lang="en-US" sz="950" dirty="0"/>
          </a:p>
        </p:txBody>
      </p:sp>
      <p:sp>
        <p:nvSpPr>
          <p:cNvPr id="17" name="Text 14"/>
          <p:cNvSpPr/>
          <p:nvPr/>
        </p:nvSpPr>
        <p:spPr>
          <a:xfrm>
            <a:off x="5233360" y="5069384"/>
            <a:ext cx="245659" cy="153491"/>
          </a:xfrm>
          <a:prstGeom prst="rect">
            <a:avLst/>
          </a:prstGeom>
          <a:noFill/>
          <a:ln/>
        </p:spPr>
        <p:txBody>
          <a:bodyPr wrap="none" lIns="0" tIns="0" rIns="0" bIns="0" rtlCol="0" anchor="ctr"/>
          <a:lstStyle/>
          <a:p>
            <a:pPr marL="0" indent="0" algn="l">
              <a:lnSpc>
                <a:spcPct val="100000"/>
              </a:lnSpc>
              <a:buNone/>
            </a:pPr>
            <a:r>
              <a:rPr lang="en-US" sz="950" dirty="0">
                <a:solidFill>
                  <a:srgbClr val="C2C4B5"/>
                </a:solidFill>
                <a:latin typeface="Outfit Light" pitchFamily="34" charset="0"/>
                <a:ea typeface="Outfit Light" pitchFamily="34" charset="-122"/>
                <a:cs typeface="Outfit Light" pitchFamily="34" charset="-120"/>
              </a:rPr>
              <a:t>04</a:t>
            </a:r>
            <a:endParaRPr lang="en-US" sz="950" dirty="0"/>
          </a:p>
        </p:txBody>
      </p:sp>
      <p:sp>
        <p:nvSpPr>
          <p:cNvPr id="18" name="Shape 15"/>
          <p:cNvSpPr/>
          <p:nvPr/>
        </p:nvSpPr>
        <p:spPr>
          <a:xfrm>
            <a:off x="5233360" y="5265341"/>
            <a:ext cx="2998613" cy="12700"/>
          </a:xfrm>
          <a:prstGeom prst="rect">
            <a:avLst/>
          </a:prstGeom>
          <a:solidFill>
            <a:srgbClr val="9FA582"/>
          </a:solidFill>
          <a:ln/>
        </p:spPr>
      </p:sp>
      <p:sp>
        <p:nvSpPr>
          <p:cNvPr id="19" name="Text 16"/>
          <p:cNvSpPr/>
          <p:nvPr/>
        </p:nvSpPr>
        <p:spPr>
          <a:xfrm>
            <a:off x="5233360" y="5352157"/>
            <a:ext cx="2998613" cy="191988"/>
          </a:xfrm>
          <a:prstGeom prst="rect">
            <a:avLst/>
          </a:prstGeom>
          <a:noFill/>
          <a:ln/>
        </p:spPr>
        <p:txBody>
          <a:bodyPr wrap="none" lIns="0" tIns="0" rIns="0" bIns="0" rtlCol="0" anchor="t"/>
          <a:lstStyle/>
          <a:p>
            <a:pPr marL="0" indent="0" algn="l">
              <a:lnSpc>
                <a:spcPct val="104000"/>
              </a:lnSpc>
              <a:buNone/>
            </a:pPr>
            <a:r>
              <a:rPr lang="en-US" sz="1200" b="1" dirty="0">
                <a:solidFill>
                  <a:srgbClr val="C2C4B5"/>
                </a:solidFill>
                <a:latin typeface="Outfit Bold" pitchFamily="34" charset="0"/>
                <a:ea typeface="Outfit Bold" pitchFamily="34" charset="-122"/>
                <a:cs typeface="Outfit Bold" pitchFamily="34" charset="-120"/>
              </a:rPr>
              <a:t>Frontend Testing </a:t>
            </a:r>
            <a:endParaRPr lang="en-US" sz="1200" dirty="0"/>
          </a:p>
        </p:txBody>
      </p:sp>
      <p:sp>
        <p:nvSpPr>
          <p:cNvPr id="20" name="Text 17"/>
          <p:cNvSpPr/>
          <p:nvPr/>
        </p:nvSpPr>
        <p:spPr>
          <a:xfrm>
            <a:off x="5233360" y="5623917"/>
            <a:ext cx="2998613" cy="486370"/>
          </a:xfrm>
          <a:prstGeom prst="rect">
            <a:avLst/>
          </a:prstGeom>
          <a:noFill/>
          <a:ln/>
        </p:spPr>
        <p:txBody>
          <a:bodyPr wrap="square" lIns="0" tIns="0" rIns="0" bIns="0" rtlCol="0" anchor="t">
            <a:normAutofit/>
          </a:bodyPr>
          <a:lstStyle/>
          <a:p>
            <a:pPr marL="0" indent="0" algn="l">
              <a:lnSpc>
                <a:spcPct val="110000"/>
              </a:lnSpc>
              <a:buNone/>
            </a:pPr>
            <a:r>
              <a:rPr lang="en-US" sz="950" dirty="0">
                <a:solidFill>
                  <a:srgbClr val="C2C4B5"/>
                </a:solidFill>
                <a:latin typeface="Bitter" pitchFamily="34" charset="0"/>
                <a:ea typeface="Bitter" pitchFamily="34" charset="-122"/>
                <a:cs typeface="Bitter" pitchFamily="34" charset="-120"/>
              </a:rPr>
              <a:t>Navigation, property details, saving properties, dashboard updates, and responsive layouts are being tested and refined.</a:t>
            </a:r>
            <a:endParaRPr lang="en-US" sz="950" dirty="0"/>
          </a:p>
        </p:txBody>
      </p:sp>
      <p:sp>
        <p:nvSpPr>
          <p:cNvPr id="21" name="Text 18"/>
          <p:cNvSpPr/>
          <p:nvPr/>
        </p:nvSpPr>
        <p:spPr>
          <a:xfrm>
            <a:off x="8537957" y="1149350"/>
            <a:ext cx="2998613" cy="191988"/>
          </a:xfrm>
          <a:prstGeom prst="rect">
            <a:avLst/>
          </a:prstGeom>
          <a:noFill/>
          <a:ln/>
        </p:spPr>
        <p:txBody>
          <a:bodyPr wrap="none" lIns="0" tIns="0" rIns="0" bIns="0" rtlCol="0" anchor="t"/>
          <a:lstStyle/>
          <a:p>
            <a:pPr marL="0" indent="0" algn="l">
              <a:lnSpc>
                <a:spcPct val="104000"/>
              </a:lnSpc>
              <a:buNone/>
            </a:pPr>
            <a:r>
              <a:rPr lang="en-US" sz="1200" b="1" dirty="0">
                <a:solidFill>
                  <a:srgbClr val="E1E5CD"/>
                </a:solidFill>
                <a:latin typeface="Outfit Bold" pitchFamily="34" charset="0"/>
                <a:ea typeface="Outfit Bold" pitchFamily="34" charset="-122"/>
                <a:cs typeface="Outfit Bold" pitchFamily="34" charset="-120"/>
              </a:rPr>
              <a:t>Future Work</a:t>
            </a:r>
            <a:endParaRPr lang="en-US" sz="1200" dirty="0"/>
          </a:p>
        </p:txBody>
      </p:sp>
      <p:sp>
        <p:nvSpPr>
          <p:cNvPr id="22" name="Text 19"/>
          <p:cNvSpPr/>
          <p:nvPr/>
        </p:nvSpPr>
        <p:spPr>
          <a:xfrm>
            <a:off x="8537957" y="1421110"/>
            <a:ext cx="2998613" cy="1084263"/>
          </a:xfrm>
          <a:prstGeom prst="rect">
            <a:avLst/>
          </a:prstGeom>
          <a:noFill/>
          <a:ln/>
        </p:spPr>
        <p:txBody>
          <a:bodyPr wrap="square" lIns="0" tIns="0" rIns="0" bIns="0" rtlCol="0" anchor="t">
            <a:normAutofit/>
          </a:bodyPr>
          <a:lstStyle/>
          <a:p>
            <a:pPr marL="193040" indent="-193040" algn="l">
              <a:lnSpc>
                <a:spcPct val="110000"/>
              </a:lnSpc>
              <a:buSzPct val="100000"/>
              <a:buChar char="•"/>
            </a:pPr>
            <a:r>
              <a:rPr lang="en-US" sz="950" dirty="0">
                <a:solidFill>
                  <a:srgbClr val="C2C4B5"/>
                </a:solidFill>
                <a:latin typeface="Bitter" pitchFamily="34" charset="0"/>
                <a:ea typeface="Bitter" pitchFamily="34" charset="-122"/>
                <a:cs typeface="Bitter" pitchFamily="34" charset="-120"/>
              </a:rPr>
              <a:t>AI-powered property recommendations</a:t>
            </a:r>
            <a:endParaRPr lang="en-US" sz="950" dirty="0"/>
          </a:p>
          <a:p>
            <a:pPr marL="193040" indent="-193040" algn="l">
              <a:lnSpc>
                <a:spcPct val="110000"/>
              </a:lnSpc>
              <a:buSzPct val="100000"/>
              <a:buChar char="•"/>
            </a:pPr>
            <a:r>
              <a:rPr lang="en-US" sz="950" dirty="0">
                <a:solidFill>
                  <a:srgbClr val="C2C4B5"/>
                </a:solidFill>
                <a:latin typeface="Bitter" pitchFamily="34" charset="0"/>
                <a:ea typeface="Bitter" pitchFamily="34" charset="-122"/>
                <a:cs typeface="Bitter" pitchFamily="34" charset="-120"/>
              </a:rPr>
              <a:t>Mobile app development for Android and iOS</a:t>
            </a:r>
            <a:endParaRPr lang="en-US" sz="950" dirty="0"/>
          </a:p>
          <a:p>
            <a:pPr marL="193040" indent="-193040" algn="l">
              <a:lnSpc>
                <a:spcPct val="110000"/>
              </a:lnSpc>
              <a:buSzPct val="100000"/>
              <a:buChar char="•"/>
            </a:pPr>
            <a:r>
              <a:rPr lang="en-US" sz="950" dirty="0">
                <a:solidFill>
                  <a:srgbClr val="C2C4B5"/>
                </a:solidFill>
                <a:latin typeface="Bitter" pitchFamily="34" charset="0"/>
                <a:ea typeface="Bitter" pitchFamily="34" charset="-122"/>
                <a:cs typeface="Bitter" pitchFamily="34" charset="-120"/>
              </a:rPr>
              <a:t>Map integration for property locations</a:t>
            </a:r>
            <a:endParaRPr lang="en-US" sz="950" dirty="0"/>
          </a:p>
          <a:p>
            <a:pPr marL="193040" indent="-193040" algn="l">
              <a:lnSpc>
                <a:spcPct val="110000"/>
              </a:lnSpc>
              <a:buSzPct val="100000"/>
              <a:buChar char="•"/>
            </a:pPr>
            <a:r>
              <a:rPr lang="en-US" sz="950" dirty="0">
                <a:solidFill>
                  <a:srgbClr val="C2C4B5"/>
                </a:solidFill>
                <a:latin typeface="Bitter" pitchFamily="34" charset="0"/>
                <a:ea typeface="Bitter" pitchFamily="34" charset="-122"/>
                <a:cs typeface="Bitter" pitchFamily="34" charset="-120"/>
              </a:rPr>
              <a:t>Payment gateway integration for future booking features</a:t>
            </a:r>
            <a:endParaRPr lang="en-US" sz="950" dirty="0"/>
          </a:p>
          <a:p>
            <a:pPr marL="193040" indent="-193040" algn="l">
              <a:lnSpc>
                <a:spcPct val="110000"/>
              </a:lnSpc>
              <a:buSzPct val="100000"/>
              <a:buChar char="•"/>
            </a:pPr>
            <a:r>
              <a:rPr lang="en-US" sz="950" dirty="0">
                <a:solidFill>
                  <a:srgbClr val="C2C4B5"/>
                </a:solidFill>
                <a:latin typeface="Bitter" pitchFamily="34" charset="0"/>
                <a:ea typeface="Bitter" pitchFamily="34" charset="-122"/>
                <a:cs typeface="Bitter" pitchFamily="34" charset="-120"/>
              </a:rPr>
              <a:t>Property analytics and buyer activity dashboard</a:t>
            </a:r>
            <a:endParaRPr lang="en-US" sz="950" dirty="0"/>
          </a:p>
        </p:txBody>
      </p:sp>
      <p:pic>
        <p:nvPicPr>
          <p:cNvPr id="24" name="Picture 23">
            <a:extLst>
              <a:ext uri="{FF2B5EF4-FFF2-40B4-BE49-F238E27FC236}">
                <a16:creationId xmlns:a16="http://schemas.microsoft.com/office/drawing/2014/main" id="{C517F772-0307-7215-FC83-BB0FD353A159}"/>
              </a:ext>
            </a:extLst>
          </p:cNvPr>
          <p:cNvPicPr>
            <a:picLocks noChangeAspect="1"/>
          </p:cNvPicPr>
          <p:nvPr/>
        </p:nvPicPr>
        <p:blipFill>
          <a:blip r:embed="rId4"/>
          <a:stretch>
            <a:fillRect/>
          </a:stretch>
        </p:blipFill>
        <p:spPr>
          <a:xfrm>
            <a:off x="11054964" y="6576036"/>
            <a:ext cx="1074513" cy="2819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0" y="0"/>
            <a:ext cx="4800480" cy="6858000"/>
          </a:xfrm>
          <a:custGeom>
            <a:avLst/>
            <a:gdLst/>
            <a:ahLst/>
            <a:cxnLst/>
            <a:rect l="0" t="0" r="100000" b="100000"/>
            <a:pathLst>
              <a:path w="100000" h="100000">
                <a:moveTo>
                  <a:pt x="0" y="0"/>
                </a:moveTo>
                <a:lnTo>
                  <a:pt x="90530" y="100"/>
                </a:lnTo>
                <a:lnTo>
                  <a:pt x="93070" y="6350"/>
                </a:lnTo>
                <a:lnTo>
                  <a:pt x="94920" y="12210"/>
                </a:lnTo>
                <a:lnTo>
                  <a:pt x="96680" y="19820"/>
                </a:lnTo>
                <a:lnTo>
                  <a:pt x="97560" y="25880"/>
                </a:lnTo>
                <a:lnTo>
                  <a:pt x="97950" y="30960"/>
                </a:lnTo>
                <a:lnTo>
                  <a:pt x="97950" y="39060"/>
                </a:lnTo>
                <a:lnTo>
                  <a:pt x="97270" y="46480"/>
                </a:lnTo>
                <a:lnTo>
                  <a:pt x="96190" y="52640"/>
                </a:lnTo>
                <a:lnTo>
                  <a:pt x="94730" y="58500"/>
                </a:lnTo>
                <a:lnTo>
                  <a:pt x="92480" y="65230"/>
                </a:lnTo>
                <a:lnTo>
                  <a:pt x="89550" y="72070"/>
                </a:lnTo>
                <a:lnTo>
                  <a:pt x="86820" y="77340"/>
                </a:lnTo>
                <a:lnTo>
                  <a:pt x="83500" y="82810"/>
                </a:lnTo>
                <a:lnTo>
                  <a:pt x="79200" y="88870"/>
                </a:lnTo>
                <a:lnTo>
                  <a:pt x="75880" y="92770"/>
                </a:lnTo>
                <a:lnTo>
                  <a:pt x="75880" y="92970"/>
                </a:lnTo>
                <a:lnTo>
                  <a:pt x="74510" y="94340"/>
                </a:lnTo>
                <a:lnTo>
                  <a:pt x="74510" y="94530"/>
                </a:lnTo>
                <a:lnTo>
                  <a:pt x="69240" y="100000"/>
                </a:lnTo>
                <a:lnTo>
                  <a:pt x="0" y="100000"/>
                </a:lnTo>
                <a:close/>
              </a:path>
            </a:pathLst>
          </a:custGeom>
        </p:spPr>
      </p:pic>
      <p:sp>
        <p:nvSpPr>
          <p:cNvPr id="3" name="Text 0"/>
          <p:cNvSpPr/>
          <p:nvPr/>
        </p:nvSpPr>
        <p:spPr>
          <a:xfrm>
            <a:off x="5233360" y="1683147"/>
            <a:ext cx="6296860" cy="590649"/>
          </a:xfrm>
          <a:prstGeom prst="rect">
            <a:avLst/>
          </a:prstGeom>
          <a:noFill/>
          <a:ln/>
        </p:spPr>
        <p:txBody>
          <a:bodyPr wrap="none" lIns="0" tIns="0" rIns="0" bIns="0" rtlCol="0" anchor="t"/>
          <a:lstStyle/>
          <a:p>
            <a:pPr marL="0" indent="0" algn="l">
              <a:lnSpc>
                <a:spcPct val="104000"/>
              </a:lnSpc>
              <a:buNone/>
            </a:pPr>
            <a:r>
              <a:rPr lang="en-US" sz="3700" b="1" dirty="0">
                <a:solidFill>
                  <a:srgbClr val="E1E5CD"/>
                </a:solidFill>
                <a:latin typeface="Outfit Bold" pitchFamily="34" charset="0"/>
                <a:ea typeface="Outfit Bold" pitchFamily="34" charset="-122"/>
                <a:cs typeface="Outfit Bold" pitchFamily="34" charset="-120"/>
              </a:rPr>
              <a:t>Challenges / Issues Faced</a:t>
            </a:r>
            <a:endParaRPr lang="en-US" sz="3700" dirty="0"/>
          </a:p>
        </p:txBody>
      </p:sp>
      <p:sp>
        <p:nvSpPr>
          <p:cNvPr id="4" name="Text 1"/>
          <p:cNvSpPr/>
          <p:nvPr/>
        </p:nvSpPr>
        <p:spPr>
          <a:xfrm>
            <a:off x="5233360" y="2557264"/>
            <a:ext cx="6296860" cy="2617589"/>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b="1" dirty="0">
                <a:solidFill>
                  <a:srgbClr val="C2C4B5"/>
                </a:solidFill>
                <a:latin typeface="Bitter Bold" pitchFamily="34" charset="0"/>
                <a:ea typeface="Bitter Bold" pitchFamily="34" charset="-122"/>
                <a:cs typeface="Bitter Bold" pitchFamily="34" charset="-120"/>
              </a:rPr>
              <a:t>Responsive Design:</a:t>
            </a:r>
            <a:r>
              <a:rPr lang="en-US" sz="1450" dirty="0">
                <a:solidFill>
                  <a:srgbClr val="C2C4B5"/>
                </a:solidFill>
                <a:latin typeface="Bitter" pitchFamily="34" charset="0"/>
                <a:ea typeface="Bitter" pitchFamily="34" charset="-122"/>
                <a:cs typeface="Bitter" pitchFamily="34" charset="-120"/>
              </a:rPr>
              <a:t> Ensuring the application works properly on desktops, tablets, and mobile screens.</a:t>
            </a:r>
            <a:endParaRPr lang="en-US" sz="1450" dirty="0"/>
          </a:p>
          <a:p>
            <a:pPr marL="294640" indent="-294640" algn="l">
              <a:lnSpc>
                <a:spcPct val="133000"/>
              </a:lnSpc>
              <a:buSzPct val="100000"/>
              <a:buChar char="•"/>
            </a:pPr>
            <a:r>
              <a:rPr lang="en-US" sz="1450" b="1" dirty="0">
                <a:solidFill>
                  <a:srgbClr val="C2C4B5"/>
                </a:solidFill>
                <a:latin typeface="Bitter Bold" pitchFamily="34" charset="0"/>
                <a:ea typeface="Bitter Bold" pitchFamily="34" charset="-122"/>
                <a:cs typeface="Bitter Bold" pitchFamily="34" charset="-120"/>
              </a:rPr>
              <a:t>Component Integration:</a:t>
            </a:r>
            <a:r>
              <a:rPr lang="en-US" sz="1450" dirty="0">
                <a:solidFill>
                  <a:srgbClr val="C2C4B5"/>
                </a:solidFill>
                <a:latin typeface="Bitter" pitchFamily="34" charset="0"/>
                <a:ea typeface="Bitter" pitchFamily="34" charset="-122"/>
                <a:cs typeface="Bitter" pitchFamily="34" charset="-120"/>
              </a:rPr>
              <a:t> Managing multiple React components and connecting pages smoothly using React Router.</a:t>
            </a:r>
            <a:endParaRPr lang="en-US" sz="1450" dirty="0"/>
          </a:p>
          <a:p>
            <a:pPr marL="294640" indent="-294640" algn="l">
              <a:lnSpc>
                <a:spcPct val="133000"/>
              </a:lnSpc>
              <a:buSzPct val="100000"/>
              <a:buChar char="•"/>
            </a:pPr>
            <a:r>
              <a:rPr lang="en-US" sz="1450" b="1" dirty="0">
                <a:solidFill>
                  <a:srgbClr val="C2C4B5"/>
                </a:solidFill>
                <a:latin typeface="Bitter Bold" pitchFamily="34" charset="0"/>
                <a:ea typeface="Bitter Bold" pitchFamily="34" charset="-122"/>
                <a:cs typeface="Bitter Bold" pitchFamily="34" charset="-120"/>
              </a:rPr>
              <a:t>State Management:</a:t>
            </a:r>
            <a:r>
              <a:rPr lang="en-US" sz="1450" dirty="0">
                <a:solidFill>
                  <a:srgbClr val="C2C4B5"/>
                </a:solidFill>
                <a:latin typeface="Bitter" pitchFamily="34" charset="0"/>
                <a:ea typeface="Bitter" pitchFamily="34" charset="-122"/>
                <a:cs typeface="Bitter" pitchFamily="34" charset="-120"/>
              </a:rPr>
              <a:t> Handling features such as saved/favorite properties and maintaining their state using browser storage.</a:t>
            </a:r>
            <a:endParaRPr lang="en-US" sz="1450" dirty="0"/>
          </a:p>
          <a:p>
            <a:pPr marL="294640" indent="-294640" algn="l">
              <a:lnSpc>
                <a:spcPct val="133000"/>
              </a:lnSpc>
              <a:buSzPct val="100000"/>
              <a:buChar char="•"/>
            </a:pPr>
            <a:r>
              <a:rPr lang="en-US" sz="1450" b="1" dirty="0">
                <a:solidFill>
                  <a:srgbClr val="C2C4B5"/>
                </a:solidFill>
                <a:latin typeface="Bitter Bold" pitchFamily="34" charset="0"/>
                <a:ea typeface="Bitter Bold" pitchFamily="34" charset="-122"/>
                <a:cs typeface="Bitter Bold" pitchFamily="34" charset="-120"/>
              </a:rPr>
              <a:t>UI Consistency:</a:t>
            </a:r>
            <a:r>
              <a:rPr lang="en-US" sz="1450" dirty="0">
                <a:solidFill>
                  <a:srgbClr val="C2C4B5"/>
                </a:solidFill>
                <a:latin typeface="Bitter" pitchFamily="34" charset="0"/>
                <a:ea typeface="Bitter" pitchFamily="34" charset="-122"/>
                <a:cs typeface="Bitter" pitchFamily="34" charset="-120"/>
              </a:rPr>
              <a:t> Maintaining a consistent, user-friendly design, layout, icons, colors, and navigation across all pages.</a:t>
            </a:r>
            <a:endParaRPr lang="en-US" sz="1450" dirty="0"/>
          </a:p>
        </p:txBody>
      </p:sp>
      <p:pic>
        <p:nvPicPr>
          <p:cNvPr id="6" name="Picture 5">
            <a:extLst>
              <a:ext uri="{FF2B5EF4-FFF2-40B4-BE49-F238E27FC236}">
                <a16:creationId xmlns:a16="http://schemas.microsoft.com/office/drawing/2014/main" id="{AEFC2F68-B62D-E7A7-F3C5-BD354F833E29}"/>
              </a:ext>
            </a:extLst>
          </p:cNvPr>
          <p:cNvPicPr>
            <a:picLocks noChangeAspect="1"/>
          </p:cNvPicPr>
          <p:nvPr/>
        </p:nvPicPr>
        <p:blipFill>
          <a:blip r:embed="rId4"/>
          <a:stretch>
            <a:fillRect/>
          </a:stretch>
        </p:blipFill>
        <p:spPr>
          <a:xfrm>
            <a:off x="11054964" y="6576036"/>
            <a:ext cx="1074513" cy="28196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1531938"/>
            <a:ext cx="6296860" cy="590649"/>
          </a:xfrm>
          <a:prstGeom prst="rect">
            <a:avLst/>
          </a:prstGeom>
          <a:noFill/>
          <a:ln/>
        </p:spPr>
        <p:txBody>
          <a:bodyPr wrap="none" lIns="0" tIns="0" rIns="0" bIns="0" rtlCol="0" anchor="t"/>
          <a:lstStyle/>
          <a:p>
            <a:pPr marL="0" indent="0" algn="l">
              <a:lnSpc>
                <a:spcPct val="104000"/>
              </a:lnSpc>
              <a:buNone/>
            </a:pPr>
            <a:r>
              <a:rPr lang="en-US" sz="3700" b="1" dirty="0">
                <a:solidFill>
                  <a:srgbClr val="E1E5CD"/>
                </a:solidFill>
                <a:latin typeface="Outfit Bold" pitchFamily="34" charset="0"/>
                <a:ea typeface="Outfit Bold" pitchFamily="34" charset="-122"/>
                <a:cs typeface="Outfit Bold" pitchFamily="34" charset="-120"/>
              </a:rPr>
              <a:t>Future Work</a:t>
            </a:r>
            <a:endParaRPr lang="en-US" sz="3700" dirty="0"/>
          </a:p>
        </p:txBody>
      </p:sp>
      <p:sp>
        <p:nvSpPr>
          <p:cNvPr id="4" name="Text 1"/>
          <p:cNvSpPr/>
          <p:nvPr/>
        </p:nvSpPr>
        <p:spPr>
          <a:xfrm>
            <a:off x="661475" y="2406055"/>
            <a:ext cx="6296860" cy="2920008"/>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b="1" dirty="0">
                <a:solidFill>
                  <a:srgbClr val="C2C4B5"/>
                </a:solidFill>
                <a:latin typeface="Bitter Bold" pitchFamily="34" charset="0"/>
                <a:ea typeface="Bitter Bold" pitchFamily="34" charset="-122"/>
                <a:cs typeface="Bitter Bold" pitchFamily="34" charset="-120"/>
              </a:rPr>
              <a:t>Backend Integration:</a:t>
            </a:r>
            <a:r>
              <a:rPr lang="en-US" sz="1450" dirty="0">
                <a:solidFill>
                  <a:srgbClr val="C2C4B5"/>
                </a:solidFill>
                <a:latin typeface="Bitter" pitchFamily="34" charset="0"/>
                <a:ea typeface="Bitter" pitchFamily="34" charset="-122"/>
                <a:cs typeface="Bitter" pitchFamily="34" charset="-120"/>
              </a:rPr>
              <a:t> Add a secure backend and database to store users, properties, favorites, and visit details.</a:t>
            </a:r>
            <a:endParaRPr lang="en-US" sz="1450" dirty="0"/>
          </a:p>
          <a:p>
            <a:pPr marL="294640" indent="-294640" algn="l">
              <a:lnSpc>
                <a:spcPct val="133000"/>
              </a:lnSpc>
              <a:buSzPct val="100000"/>
              <a:buChar char="•"/>
            </a:pPr>
            <a:r>
              <a:rPr lang="en-US" sz="1450" b="1" dirty="0">
                <a:solidFill>
                  <a:srgbClr val="C2C4B5"/>
                </a:solidFill>
                <a:latin typeface="Bitter Bold" pitchFamily="34" charset="0"/>
                <a:ea typeface="Bitter Bold" pitchFamily="34" charset="-122"/>
                <a:cs typeface="Bitter Bold" pitchFamily="34" charset="-120"/>
              </a:rPr>
              <a:t>Advanced Search:</a:t>
            </a:r>
            <a:r>
              <a:rPr lang="en-US" sz="1450" dirty="0">
                <a:solidFill>
                  <a:srgbClr val="C2C4B5"/>
                </a:solidFill>
                <a:latin typeface="Bitter" pitchFamily="34" charset="0"/>
                <a:ea typeface="Bitter" pitchFamily="34" charset="-122"/>
                <a:cs typeface="Bitter" pitchFamily="34" charset="-120"/>
              </a:rPr>
              <a:t> Implement filters for price, location, property type, bedrooms, and amenities.</a:t>
            </a:r>
            <a:endParaRPr lang="en-US" sz="1450" dirty="0"/>
          </a:p>
          <a:p>
            <a:pPr marL="294640" indent="-294640" algn="l">
              <a:lnSpc>
                <a:spcPct val="133000"/>
              </a:lnSpc>
              <a:buSzPct val="100000"/>
              <a:buChar char="•"/>
            </a:pPr>
            <a:r>
              <a:rPr lang="en-US" sz="1450" b="1" dirty="0">
                <a:solidFill>
                  <a:srgbClr val="C2C4B5"/>
                </a:solidFill>
                <a:latin typeface="Bitter Bold" pitchFamily="34" charset="0"/>
                <a:ea typeface="Bitter Bold" pitchFamily="34" charset="-122"/>
                <a:cs typeface="Bitter Bold" pitchFamily="34" charset="-120"/>
              </a:rPr>
              <a:t>Online Property Visits:</a:t>
            </a:r>
            <a:r>
              <a:rPr lang="en-US" sz="1450" dirty="0">
                <a:solidFill>
                  <a:srgbClr val="C2C4B5"/>
                </a:solidFill>
                <a:latin typeface="Bitter" pitchFamily="34" charset="0"/>
                <a:ea typeface="Bitter" pitchFamily="34" charset="-122"/>
                <a:cs typeface="Bitter" pitchFamily="34" charset="-120"/>
              </a:rPr>
              <a:t> Add appointment booking, calendar integration, and notifications for scheduled visits.</a:t>
            </a:r>
            <a:endParaRPr lang="en-US" sz="1450" dirty="0"/>
          </a:p>
          <a:p>
            <a:pPr marL="294640" indent="-294640" algn="l">
              <a:lnSpc>
                <a:spcPct val="133000"/>
              </a:lnSpc>
              <a:buSzPct val="100000"/>
              <a:buChar char="•"/>
            </a:pPr>
            <a:r>
              <a:rPr lang="en-US" sz="1450" b="1" dirty="0">
                <a:solidFill>
                  <a:srgbClr val="C2C4B5"/>
                </a:solidFill>
                <a:latin typeface="Bitter Bold" pitchFamily="34" charset="0"/>
                <a:ea typeface="Bitter Bold" pitchFamily="34" charset="-122"/>
                <a:cs typeface="Bitter Bold" pitchFamily="34" charset="-120"/>
              </a:rPr>
              <a:t>Mobile Application:</a:t>
            </a:r>
            <a:r>
              <a:rPr lang="en-US" sz="1450" dirty="0">
                <a:solidFill>
                  <a:srgbClr val="C2C4B5"/>
                </a:solidFill>
                <a:latin typeface="Bitter" pitchFamily="34" charset="0"/>
                <a:ea typeface="Bitter" pitchFamily="34" charset="-122"/>
                <a:cs typeface="Bitter" pitchFamily="34" charset="-120"/>
              </a:rPr>
              <a:t> Convert the web application into a dedicated Android/iOS app for convenient property browsing and buyer self-service.</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1045270"/>
            <a:ext cx="6296860" cy="590649"/>
          </a:xfrm>
          <a:prstGeom prst="rect">
            <a:avLst/>
          </a:prstGeom>
          <a:noFill/>
          <a:ln/>
        </p:spPr>
        <p:txBody>
          <a:bodyPr wrap="none" lIns="0" tIns="0" rIns="0" bIns="0" rtlCol="0" anchor="t"/>
          <a:lstStyle/>
          <a:p>
            <a:pPr marL="0" indent="0" algn="l">
              <a:lnSpc>
                <a:spcPct val="104000"/>
              </a:lnSpc>
              <a:buNone/>
            </a:pPr>
            <a:r>
              <a:rPr lang="en-US" sz="3700" b="1" dirty="0">
                <a:solidFill>
                  <a:srgbClr val="E1E5CD"/>
                </a:solidFill>
                <a:latin typeface="Outfit Bold" pitchFamily="34" charset="0"/>
                <a:ea typeface="Outfit Bold" pitchFamily="34" charset="-122"/>
                <a:cs typeface="Outfit Bold" pitchFamily="34" charset="-120"/>
              </a:rPr>
              <a:t>Conclusion</a:t>
            </a:r>
            <a:endParaRPr lang="en-US" sz="3700" dirty="0"/>
          </a:p>
        </p:txBody>
      </p:sp>
      <p:sp>
        <p:nvSpPr>
          <p:cNvPr id="4" name="Text 1"/>
          <p:cNvSpPr/>
          <p:nvPr/>
        </p:nvSpPr>
        <p:spPr>
          <a:xfrm>
            <a:off x="661475" y="1919387"/>
            <a:ext cx="6296860" cy="3893344"/>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b="1" dirty="0">
                <a:solidFill>
                  <a:srgbClr val="C2C4B5"/>
                </a:solidFill>
                <a:latin typeface="Bitter Bold" pitchFamily="34" charset="0"/>
                <a:ea typeface="Bitter Bold" pitchFamily="34" charset="-122"/>
                <a:cs typeface="Bitter Bold" pitchFamily="34" charset="-120"/>
              </a:rPr>
              <a:t>EstateLy</a:t>
            </a:r>
            <a:r>
              <a:rPr lang="en-US" sz="1450" dirty="0">
                <a:solidFill>
                  <a:srgbClr val="C2C4B5"/>
                </a:solidFill>
                <a:latin typeface="Bitter" pitchFamily="34" charset="0"/>
                <a:ea typeface="Bitter" pitchFamily="34" charset="-122"/>
                <a:cs typeface="Bitter" pitchFamily="34" charset="-120"/>
              </a:rPr>
              <a:t> provides a simple and user-friendly platform for buyers to explore properties and view detailed information.</a:t>
            </a:r>
            <a:endParaRPr lang="en-US" sz="1450" dirty="0"/>
          </a:p>
          <a:p>
            <a:pPr marL="294640" indent="-294640" algn="l">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The application allows users to </a:t>
            </a:r>
            <a:r>
              <a:rPr lang="en-US" sz="1450" b="1" dirty="0">
                <a:solidFill>
                  <a:srgbClr val="C2C4B5"/>
                </a:solidFill>
                <a:latin typeface="Bitter Bold" pitchFamily="34" charset="0"/>
                <a:ea typeface="Bitter Bold" pitchFamily="34" charset="-122"/>
                <a:cs typeface="Bitter Bold" pitchFamily="34" charset="-120"/>
              </a:rPr>
              <a:t>search, view, and save properties</a:t>
            </a:r>
            <a:r>
              <a:rPr lang="en-US" sz="1450" dirty="0">
                <a:solidFill>
                  <a:srgbClr val="C2C4B5"/>
                </a:solidFill>
                <a:latin typeface="Bitter" pitchFamily="34" charset="0"/>
                <a:ea typeface="Bitter" pitchFamily="34" charset="-122"/>
                <a:cs typeface="Bitter" pitchFamily="34" charset="-120"/>
              </a:rPr>
              <a:t> according to their preferences.</a:t>
            </a:r>
            <a:endParaRPr lang="en-US" sz="1450" dirty="0"/>
          </a:p>
          <a:p>
            <a:pPr marL="294640" indent="-294640" algn="l">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Features such as </a:t>
            </a:r>
            <a:r>
              <a:rPr lang="en-US" sz="1450" b="1" dirty="0">
                <a:solidFill>
                  <a:srgbClr val="C2C4B5"/>
                </a:solidFill>
                <a:latin typeface="Bitter Bold" pitchFamily="34" charset="0"/>
                <a:ea typeface="Bitter Bold" pitchFamily="34" charset="-122"/>
                <a:cs typeface="Bitter Bold" pitchFamily="34" charset="-120"/>
              </a:rPr>
              <a:t>property details, favorites, buyer dashboard, login, registration, and visit scheduling</a:t>
            </a:r>
            <a:r>
              <a:rPr lang="en-US" sz="1450" dirty="0">
                <a:solidFill>
                  <a:srgbClr val="C2C4B5"/>
                </a:solidFill>
                <a:latin typeface="Bitter" pitchFamily="34" charset="0"/>
                <a:ea typeface="Bitter" pitchFamily="34" charset="-122"/>
                <a:cs typeface="Bitter" pitchFamily="34" charset="-120"/>
              </a:rPr>
              <a:t> improve the overall user experience.</a:t>
            </a:r>
            <a:endParaRPr lang="en-US" sz="1450" dirty="0"/>
          </a:p>
          <a:p>
            <a:pPr marL="294640" indent="-294640" algn="l">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The responsive frontend design makes the application accessible across </a:t>
            </a:r>
            <a:r>
              <a:rPr lang="en-US" sz="1450" b="1" dirty="0">
                <a:solidFill>
                  <a:srgbClr val="C2C4B5"/>
                </a:solidFill>
                <a:latin typeface="Bitter Bold" pitchFamily="34" charset="0"/>
                <a:ea typeface="Bitter Bold" pitchFamily="34" charset="-122"/>
                <a:cs typeface="Bitter Bold" pitchFamily="34" charset="-120"/>
              </a:rPr>
              <a:t>desktop, tablet, and mobile devices</a:t>
            </a:r>
            <a:r>
              <a:rPr lang="en-US" sz="1450" dirty="0">
                <a:solidFill>
                  <a:srgbClr val="C2C4B5"/>
                </a:solidFill>
                <a:latin typeface="Bitter" pitchFamily="34" charset="0"/>
                <a:ea typeface="Bitter" pitchFamily="34" charset="-122"/>
                <a:cs typeface="Bitter" pitchFamily="34" charset="-120"/>
              </a:rPr>
              <a:t>.</a:t>
            </a:r>
            <a:endParaRPr lang="en-US" sz="1450" dirty="0"/>
          </a:p>
          <a:p>
            <a:pPr marL="294640" indent="-294640" algn="l">
              <a:lnSpc>
                <a:spcPct val="133000"/>
              </a:lnSpc>
              <a:buSzPct val="100000"/>
              <a:buChar char="•"/>
            </a:pPr>
            <a:r>
              <a:rPr lang="en-US" sz="1450" dirty="0">
                <a:solidFill>
                  <a:srgbClr val="C2C4B5"/>
                </a:solidFill>
                <a:latin typeface="Bitter" pitchFamily="34" charset="0"/>
                <a:ea typeface="Bitter" pitchFamily="34" charset="-122"/>
                <a:cs typeface="Bitter" pitchFamily="34" charset="-120"/>
              </a:rPr>
              <a:t>Overall, the project demonstrates how a modern </a:t>
            </a:r>
            <a:r>
              <a:rPr lang="en-US" sz="1450" b="1" dirty="0">
                <a:solidFill>
                  <a:srgbClr val="C2C4B5"/>
                </a:solidFill>
                <a:latin typeface="Bitter Bold" pitchFamily="34" charset="0"/>
                <a:ea typeface="Bitter Bold" pitchFamily="34" charset="-122"/>
                <a:cs typeface="Bitter Bold" pitchFamily="34" charset="-120"/>
              </a:rPr>
              <a:t>frontend-based real estate application</a:t>
            </a:r>
            <a:r>
              <a:rPr lang="en-US" sz="1450" dirty="0">
                <a:solidFill>
                  <a:srgbClr val="C2C4B5"/>
                </a:solidFill>
                <a:latin typeface="Bitter" pitchFamily="34" charset="0"/>
                <a:ea typeface="Bitter" pitchFamily="34" charset="-122"/>
                <a:cs typeface="Bitter" pitchFamily="34" charset="-120"/>
              </a:rPr>
              <a:t> can simplify the property-buying and management experience for buyers.</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p:cNvPicPr>
            <a:picLocks noChangeAspect="1"/>
          </p:cNvPicPr>
          <p:nvPr/>
        </p:nvPicPr>
        <p:blipFill>
          <a:blip r:embed="rId3"/>
          <a:stretch>
            <a:fillRect/>
          </a:stretch>
        </p:blipFill>
        <p:spPr>
          <a:xfrm>
            <a:off x="7391215" y="0"/>
            <a:ext cx="4800480" cy="6858000"/>
          </a:xfrm>
          <a:custGeom>
            <a:avLst/>
            <a:gdLst/>
            <a:ahLst/>
            <a:cxnLst/>
            <a:rect l="0" t="0" r="100000" b="100000"/>
            <a:pathLst>
              <a:path w="100000" h="100000">
                <a:moveTo>
                  <a:pt x="9570" y="0"/>
                </a:moveTo>
                <a:lnTo>
                  <a:pt x="100000" y="0"/>
                </a:lnTo>
                <a:lnTo>
                  <a:pt x="100000" y="100000"/>
                </a:lnTo>
                <a:lnTo>
                  <a:pt x="30760" y="100000"/>
                </a:lnTo>
                <a:lnTo>
                  <a:pt x="26370" y="95510"/>
                </a:lnTo>
                <a:lnTo>
                  <a:pt x="26370" y="95310"/>
                </a:lnTo>
                <a:lnTo>
                  <a:pt x="25490" y="94530"/>
                </a:lnTo>
                <a:lnTo>
                  <a:pt x="25490" y="94340"/>
                </a:lnTo>
                <a:lnTo>
                  <a:pt x="22660" y="91210"/>
                </a:lnTo>
                <a:lnTo>
                  <a:pt x="18360" y="85550"/>
                </a:lnTo>
                <a:lnTo>
                  <a:pt x="15140" y="80660"/>
                </a:lnTo>
                <a:lnTo>
                  <a:pt x="11910" y="75000"/>
                </a:lnTo>
                <a:lnTo>
                  <a:pt x="9280" y="69530"/>
                </a:lnTo>
                <a:lnTo>
                  <a:pt x="6840" y="63380"/>
                </a:lnTo>
                <a:lnTo>
                  <a:pt x="4790" y="56740"/>
                </a:lnTo>
                <a:lnTo>
                  <a:pt x="3320" y="50200"/>
                </a:lnTo>
                <a:lnTo>
                  <a:pt x="2440" y="44140"/>
                </a:lnTo>
                <a:lnTo>
                  <a:pt x="2050" y="39060"/>
                </a:lnTo>
                <a:lnTo>
                  <a:pt x="2050" y="30860"/>
                </a:lnTo>
                <a:lnTo>
                  <a:pt x="2540" y="25000"/>
                </a:lnTo>
                <a:lnTo>
                  <a:pt x="3320" y="19820"/>
                </a:lnTo>
                <a:lnTo>
                  <a:pt x="4880" y="12890"/>
                </a:lnTo>
                <a:lnTo>
                  <a:pt x="6930" y="6350"/>
                </a:lnTo>
                <a:close/>
              </a:path>
            </a:pathLst>
          </a:custGeom>
        </p:spPr>
      </p:pic>
      <p:sp>
        <p:nvSpPr>
          <p:cNvPr id="3" name="Text 0"/>
          <p:cNvSpPr/>
          <p:nvPr/>
        </p:nvSpPr>
        <p:spPr>
          <a:xfrm>
            <a:off x="661475" y="2838252"/>
            <a:ext cx="6296860" cy="1181398"/>
          </a:xfrm>
          <a:prstGeom prst="rect">
            <a:avLst/>
          </a:prstGeom>
          <a:noFill/>
          <a:ln/>
        </p:spPr>
        <p:txBody>
          <a:bodyPr wrap="none" lIns="0" tIns="0" rIns="0" bIns="0" rtlCol="0" anchor="t"/>
          <a:lstStyle/>
          <a:p>
            <a:pPr marL="0" indent="0" algn="l">
              <a:lnSpc>
                <a:spcPct val="104000"/>
              </a:lnSpc>
              <a:buNone/>
            </a:pPr>
            <a:r>
              <a:rPr lang="en-US" sz="7400" b="1" dirty="0">
                <a:solidFill>
                  <a:srgbClr val="E1E5CD"/>
                </a:solidFill>
                <a:latin typeface="Outfit Bold" pitchFamily="34" charset="0"/>
                <a:ea typeface="Outfit Bold" pitchFamily="34" charset="-122"/>
                <a:cs typeface="Outfit Bold" pitchFamily="34" charset="-120"/>
              </a:rPr>
              <a:t>Thank You</a:t>
            </a:r>
            <a:endParaRPr lang="en-US" sz="7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1110</Words>
  <Application>Microsoft Office PowerPoint</Application>
  <PresentationFormat>Widescreen</PresentationFormat>
  <Paragraphs>164</Paragraphs>
  <Slides>14</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Consolas</vt:lpstr>
      <vt:lpstr>Arial</vt:lpstr>
      <vt:lpstr>Outfit Bold</vt:lpstr>
      <vt:lpstr>Bitter Bold</vt:lpstr>
      <vt:lpstr>Outfit Light</vt:lpstr>
      <vt:lpstr>Bitter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Vishwa Teja</cp:lastModifiedBy>
  <cp:revision>2</cp:revision>
  <dcterms:created xsi:type="dcterms:W3CDTF">2026-09-15T05:35:23Z</dcterms:created>
  <dcterms:modified xsi:type="dcterms:W3CDTF">2026-09-15T05:39:42Z</dcterms:modified>
</cp:coreProperties>
</file>